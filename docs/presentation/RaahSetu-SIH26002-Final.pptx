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8F"/>
                </a:solidFill>
                <a:latin typeface="Calibri"/>
              </a:defRPr>
            </a:pPr>
            <a:r>
              <a:rPr sz="900"/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sz="2000"/>
              <a:t>Basic Details of the Team and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DE"/>
                </a:solidFill>
                <a:latin typeface="Calibri"/>
              </a:defRPr>
            </a:pPr>
            <a:r>
              <a:t>Official SIH idea-submission cover  •  blind review: no institute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74320"/>
            <a:ext cx="640080" cy="502920"/>
          </a:xfrm>
          <a:prstGeom prst="roundRect">
            <a:avLst/>
          </a:prstGeom>
          <a:solidFill>
            <a:srgbClr val="2E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2926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34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303520" cy="4572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RaahSetu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8F"/>
                </a:solidFill>
                <a:latin typeface="Calibri"/>
              </a:defRPr>
            </a:pPr>
            <a:r>
              <a:t>AI-Based Smart Logistics &amp; Accessibility Intelligence Platform for the Northeast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54680"/>
            <a:ext cx="822960" cy="50800"/>
          </a:xfrm>
          <a:prstGeom prst="rect">
            <a:avLst/>
          </a:prstGeom>
          <a:solidFill>
            <a:srgbClr val="2E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Standard apps show the fastest route.</a:t>
            </a:r>
            <a:br/>
            <a:r>
              <a:t>RaahSetu finds the safest feasible route — avoiding landslide, flood and accident-blackspot exposure — and explains the trade-off.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D2DE"/>
                </a:solidFill>
                <a:latin typeface="Calibri"/>
              </a:defRPr>
            </a:pPr>
            <a:r>
              <a:t>Software  •  Smart Automation / 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9E6E"/>
                </a:solidFill>
                <a:latin typeface="Calibri"/>
              </a:defRPr>
            </a:pPr>
            <a:r>
              <a:t>Ministry / Organization: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7393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2F36"/>
                </a:solidFill>
                <a:latin typeface="Calibri"/>
              </a:defRPr>
            </a:pPr>
            <a:r>
              <a:t>Ministry of Development of North Eastern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7685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9E6E"/>
                </a:solidFill>
                <a:latin typeface="Calibri"/>
              </a:defRPr>
            </a:pPr>
            <a:r>
              <a:t>Problem Statement No.: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9631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2F36"/>
                </a:solidFill>
                <a:latin typeface="Calibri"/>
              </a:defRPr>
            </a:pPr>
            <a:r>
              <a:t>SIH26002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9923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9E6E"/>
                </a:solidFill>
                <a:latin typeface="Calibri"/>
              </a:defRPr>
            </a:pPr>
            <a:r>
              <a:t>Problem Statement Title: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186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2F36"/>
                </a:solidFill>
                <a:latin typeface="Calibri"/>
              </a:defRPr>
            </a:pPr>
            <a:r>
              <a:t>AI-Based Smart Logistics &amp; Accessibility Intelligence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216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9E6E"/>
                </a:solidFill>
                <a:latin typeface="Calibri"/>
              </a:defRPr>
            </a:pPr>
            <a:r>
              <a:t>Idea Title: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4106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2F36"/>
                </a:solidFill>
                <a:latin typeface="Calibri"/>
              </a:defRPr>
            </a:pPr>
            <a:r>
              <a:t>RaahSetu — Risk-Aware A* Routing + Explainable Operations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4398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9E6E"/>
                </a:solidFill>
                <a:latin typeface="Calibri"/>
              </a:defRPr>
            </a:pPr>
            <a:r>
              <a:t>Team Name: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2F36"/>
                </a:solidFill>
                <a:latin typeface="Calibri"/>
              </a:defRPr>
            </a:pPr>
            <a:r>
              <a:t>[Team Name as registered on portal]  •  Team ID: [fill from portal]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5577840"/>
            <a:ext cx="5394960" cy="5486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55961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2340"/>
                </a:solidFill>
                <a:latin typeface="Calibri"/>
              </a:defRPr>
            </a:pPr>
            <a:r>
              <a:t>Submission check:  5 slides  •  points, no paragraphs  •  export to PDF for portal 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574"/>
                </a:solidFill>
                <a:latin typeface="Calibri"/>
              </a:defRPr>
            </a:pPr>
            <a:r>
              <a:t>SIH26002  •  RaahSetu  •  Blind evaluation: no institute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574"/>
                </a:solidFill>
                <a:latin typeface="Calibri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8F"/>
                </a:solidFill>
                <a:latin typeface="Calibri"/>
              </a:defRPr>
            </a:pPr>
            <a:r>
              <a:rPr sz="900"/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sz="2400"/>
              <a:t>Idea /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DE"/>
                </a:solidFill>
                <a:latin typeface="Calibri"/>
              </a:defRPr>
            </a:pPr>
            <a:r>
              <a:t>Describe your Idea / Solution / Prototype here  •  how it addresses the problem  • 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74320"/>
            <a:ext cx="640080" cy="502920"/>
          </a:xfrm>
          <a:prstGeom prst="roundRect">
            <a:avLst/>
          </a:prstGeom>
          <a:solidFill>
            <a:srgbClr val="2E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2926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34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6675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9E6E"/>
                </a:solidFill>
                <a:latin typeface="Calibri"/>
              </a:defRPr>
            </a:pPr>
            <a:r>
              <a:t>PROBLEM 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340"/>
                </a:solidFill>
                <a:latin typeface="Calibri"/>
              </a:defRPr>
            </a:pPr>
            <a:r>
              <a:t>NE logistics fleets get stuck or crash on unseen hazards (landslides, floods, blackspots) — standard apps optimise only for speed.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Risk-aware A* engine: </a:t>
            </a:r>
            <a:r>
              <a:rPr sz="1100">
                <a:solidFill>
                  <a:srgbClr val="2B2F36"/>
                </a:solidFill>
                <a:latin typeface="Calibri"/>
              </a:rPr>
              <a:t>custom cost c(e) = t(e) x [1 + α·r(e)] over OSMnx road graph; returns fastest + safest route side-by-side with time vs risk trade-off.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Risk model r(e): </a:t>
            </a:r>
            <a:r>
              <a:rPr sz="1100">
                <a:solidFill>
                  <a:srgbClr val="2B2F36"/>
                </a:solidFill>
                <a:latin typeface="Calibri"/>
              </a:rPr>
              <a:t>0.5 accident history + 0.3 surface condition + 0.2 weather exposure; missing evidence stays ‘unknown’, never silently safe.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Explainable output: </a:t>
            </a:r>
            <a:r>
              <a:rPr sz="1100">
                <a:solidFill>
                  <a:srgbClr val="2B2F36"/>
                </a:solidFill>
                <a:latin typeface="Calibri"/>
              </a:rPr>
              <a:t>route + extra minutes + avoided exposure + evidence list operator can act on; single-access blockage raises air-drop / escalation alert.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Innovation: </a:t>
            </a:r>
            <a:r>
              <a:rPr sz="1100">
                <a:solidFill>
                  <a:srgbClr val="2B2F36"/>
                </a:solidFill>
                <a:latin typeface="Calibri"/>
              </a:rPr>
              <a:t>safety inside the edge cost (not a post-filter); operator-tunable α dial keeps A* provably optimal per setting; verified vs Dijkstra on 300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63040"/>
            <a:ext cx="42976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6002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9E6E"/>
                </a:solidFill>
                <a:latin typeface="Calibri"/>
              </a:defRPr>
            </a:pPr>
            <a:r>
              <a:t>A vs DIJKSTRA CONCEPT (SCHEMATIC, NO IMAGE)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103120"/>
            <a:ext cx="3749039" cy="109728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FASTEST ROUTE (Dijkstra / standard)</a:t>
            </a:r>
            <a:br/>
            <a:r>
              <a:t>Shorter • crosses hazard zone • lower time, higher 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340"/>
                </a:solidFill>
                <a:latin typeface="Calibri"/>
              </a:defRPr>
            </a:pPr>
            <a:r>
              <a:t>▼  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566160"/>
            <a:ext cx="3749039" cy="109728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36118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RISK-AWARE ROUTE (RaahSetu A*)</a:t>
            </a:r>
            <a:br/>
            <a:r>
              <a:t>Safer • avoids blackspots + weather • quantified extra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89204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4"/>
                </a:solidFill>
                <a:latin typeface="Calibri"/>
              </a:defRPr>
            </a:pPr>
            <a:r>
              <a:t>Demo corridor: 75% lower modelled exposure for +7.7 min.</a:t>
            </a:r>
            <a:br/>
            <a:r>
              <a:t>Prototype live on real OSM graph (5,814 nodes).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574"/>
                </a:solidFill>
                <a:latin typeface="Calibri"/>
              </a:defRPr>
            </a:pPr>
            <a:r>
              <a:t>SIH26002  •  RaahSetu  •  Blind evaluation: no institute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574"/>
                </a:solidFill>
                <a:latin typeface="Calibri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8F"/>
                </a:solidFill>
                <a:latin typeface="Calibri"/>
              </a:defRPr>
            </a:pPr>
            <a:r>
              <a:rPr sz="900"/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sz="2000"/>
              <a:t>Technical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DE"/>
                </a:solidFill>
                <a:latin typeface="Calibri"/>
              </a:defRPr>
            </a:pPr>
            <a:r>
              <a:t>Describe your Technology stack here  •  one explainable path from request to route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74320"/>
            <a:ext cx="640080" cy="502920"/>
          </a:xfrm>
          <a:prstGeom prst="roundRect">
            <a:avLst/>
          </a:prstGeom>
          <a:solidFill>
            <a:srgbClr val="2E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2926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34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340"/>
                </a:solidFill>
                <a:latin typeface="Calibri"/>
              </a:defRPr>
            </a:pPr>
            <a:r>
              <a:t>Fleet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Calibri"/>
              </a:defRPr>
            </a:pPr>
            <a:r>
              <a:t>request + 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9E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155448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340"/>
                </a:solidFill>
                <a:latin typeface="Calibri"/>
              </a:defRPr>
            </a:pPr>
            <a:r>
              <a:t>FastAPI (Py 3.12)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Calibri"/>
              </a:defRPr>
            </a:pPr>
            <a:r>
              <a:t>request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9E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55448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340"/>
                </a:solidFill>
                <a:latin typeface="Calibri"/>
              </a:defRPr>
            </a:pPr>
            <a:r>
              <a:t>OSMnx graph</a:t>
            </a:r>
            <a:br/>
            <a:r>
              <a:t>+ PostGIS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Calibri"/>
              </a:defRPr>
            </a:pPr>
            <a:r>
              <a:t>hazard joins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9E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55448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340"/>
                </a:solidFill>
                <a:latin typeface="Calibri"/>
              </a:defRPr>
            </a:pPr>
            <a:r>
              <a:t>Risk-aware A*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Calibri"/>
              </a:defRPr>
            </a:pPr>
            <a:r>
              <a:t>route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9E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155448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340"/>
                </a:solidFill>
                <a:latin typeface="Calibri"/>
              </a:defRPr>
            </a:pPr>
            <a:r>
              <a:t>Ops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Calibri"/>
              </a:defRPr>
            </a:pPr>
            <a:r>
              <a:t>explain + 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788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Calibri"/>
              </a:defRPr>
            </a:pPr>
            <a:r>
              <a:t>PostgreSQL + PostGIS (hazards, reviews, fleet)  •  versioned scenario store  •  Open-Meteo live weather (keyless, free)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91840"/>
            <a:ext cx="2697480" cy="13716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200" y="3291840"/>
            <a:ext cx="2697480" cy="41148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310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84048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React, TypeScript</a:t>
            </a:r>
            <a:br/>
            <a:r>
              <a:t>(NO screenshots in this deck)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291840"/>
            <a:ext cx="2697480" cy="13716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337560" y="3291840"/>
            <a:ext cx="2697480" cy="41148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37560" y="3310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84048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Python 3.12, FastAPI</a:t>
            </a:r>
            <a:br/>
            <a:r>
              <a:t>OSMnx graph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291840"/>
            <a:ext cx="2697480" cy="13716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17920" y="3291840"/>
            <a:ext cx="2697480" cy="41148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3310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384048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Supabase PostgreSQL</a:t>
            </a:r>
            <a:br/>
            <a:r>
              <a:t>+ PostGIS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3291840"/>
            <a:ext cx="2697480" cy="13716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098280" y="3291840"/>
            <a:ext cx="2697480" cy="41148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3310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19" y="384048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Docker</a:t>
            </a:r>
            <a:br/>
            <a:r>
              <a:t>Kubernetes manifests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92040"/>
            <a:ext cx="112745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9834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F36"/>
                </a:solidFill>
                <a:latin typeface="Calibri"/>
              </a:defRPr>
            </a:pPr>
            <a:r>
              <a:t>Why this wins:  44 automated tests  •  300 randomised A* vs Dijkstra oracle checks  •  14/14 live Supabase E2E steps  •  8-state OSM extracts ready (273,494 ways)  •  36 MB / 500 MB free tier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574"/>
                </a:solidFill>
                <a:latin typeface="Calibri"/>
              </a:defRPr>
            </a:pPr>
            <a:r>
              <a:t>SIH26002  •  RaahSetu  •  Blind evaluation: no institute details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574"/>
                </a:solidFill>
                <a:latin typeface="Calibri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8F"/>
                </a:solidFill>
                <a:latin typeface="Calibri"/>
              </a:defRPr>
            </a:pPr>
            <a:r>
              <a:rPr sz="900"/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sz="2400"/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DE"/>
                </a:solidFill>
                <a:latin typeface="Calibri"/>
              </a:defRPr>
            </a:pPr>
            <a:r>
              <a:t>Describe your Use Cases here  •  who uses it and what changes on the 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74320"/>
            <a:ext cx="640080" cy="502920"/>
          </a:xfrm>
          <a:prstGeom prst="roundRect">
            <a:avLst/>
          </a:prstGeom>
          <a:solidFill>
            <a:srgbClr val="2E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2926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34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566160" cy="50292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  EMERGENCY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2340"/>
                </a:solidFill>
                <a:latin typeface="Calibri"/>
              </a:defRPr>
            </a:pPr>
            <a:r>
              <a:t>NDRF / SDRF fleets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Relief run around flooded / blocked / landslide-prone segments during extreme weather.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46304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1960" y="1463040"/>
            <a:ext cx="3566160" cy="50292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508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  ESSENTIAL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2340"/>
                </a:solidFill>
                <a:latin typeface="Calibri"/>
              </a:defRPr>
            </a:pPr>
            <a:r>
              <a:t>Heavy commercial trucks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974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Compare time vs risk before moving medicines, food, material on NE corridors.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20" y="1463040"/>
            <a:ext cx="3566160" cy="50292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1508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  FIELD REPORTING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2340"/>
                </a:solidFill>
                <a:latin typeface="Calibri"/>
              </a:defRPr>
            </a:pPr>
            <a:r>
              <a:t>District officials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B2F36"/>
                </a:solidFill>
                <a:latin typeface="Calibri"/>
              </a:defRPr>
            </a:pPr>
            <a:r>
              <a:t>Geo-tagged closure/photo queued offline; reviewer accepts before it changes route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274552" cy="1280160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Operational loop:  Request  →  Compare (fastest vs safest)  →  Explain (evidence)  →  Act     |     Special case — Risk Mitigation Mode: if single-access route is blocked, raise accessibility gap + air-drop escalation instead of a misleading route.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574"/>
                </a:solidFill>
                <a:latin typeface="Calibri"/>
              </a:defRPr>
            </a:pPr>
            <a:r>
              <a:t>SIH26002  •  RaahSetu  •  Blind evaluation: no institute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574"/>
                </a:solidFill>
                <a:latin typeface="Calibri"/>
              </a:defRPr>
            </a:pPr>
            <a:r>
              <a:t>4 /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9E6E"/>
                </a:solidFill>
                <a:latin typeface="Calibri"/>
              </a:rPr>
              <a:t>Outcome: on-time relief, fewer stranded consignments.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9E6E"/>
                </a:solidFill>
                <a:latin typeface="Calibri"/>
              </a:rPr>
              <a:t>Outcome: quantified detour cost before dispatch.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9E6E"/>
                </a:solidFill>
                <a:latin typeface="Calibri"/>
              </a:rPr>
              <a:t>Outcome: every closure has provenance, no rumours.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8F"/>
                </a:solidFill>
                <a:latin typeface="Calibri"/>
              </a:defRPr>
            </a:pPr>
            <a:r>
              <a:rPr sz="900"/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sz="2400"/>
              <a:t>Dependencies &amp; Show Stoppers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DE"/>
                </a:solidFill>
                <a:latin typeface="Calibri"/>
              </a:defRPr>
            </a:pPr>
            <a:r>
              <a:t>Describe your Dependencies / Show stopper here  •  maturity check: honest risks + shipped mitigations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74320"/>
            <a:ext cx="640080" cy="502920"/>
          </a:xfrm>
          <a:prstGeom prst="roundRect">
            <a:avLst/>
          </a:prstGeom>
          <a:solidFill>
            <a:srgbClr val="2E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2926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34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9E6E"/>
                </a:solidFill>
                <a:latin typeface="Calibri"/>
              </a:defRPr>
            </a:pPr>
            <a:r>
              <a:t>DEPENDENCIES (WHAT WE NEED)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OSM / OSMnx road graph: </a:t>
            </a:r>
            <a:r>
              <a:rPr sz="1100">
                <a:solidFill>
                  <a:srgbClr val="2B2F36"/>
                </a:solidFill>
                <a:latin typeface="Calibri"/>
              </a:rPr>
              <a:t>open network for all 8 NE states; versioned snapshots.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Hazard evidence: </a:t>
            </a:r>
            <a:r>
              <a:rPr sz="1100">
                <a:solidFill>
                  <a:srgbClr val="2B2F36"/>
                </a:solidFill>
                <a:latin typeface="Calibri"/>
              </a:rPr>
              <a:t>reviewed landslide + accident-blackspot records (MoRTH / eDAR as scaling path).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Weather updates: </a:t>
            </a:r>
            <a:r>
              <a:rPr sz="1100">
                <a:solidFill>
                  <a:srgbClr val="2B2F36"/>
                </a:solidFill>
                <a:latin typeface="Calibri"/>
              </a:rPr>
              <a:t>Open-Meteo live feed (free, keyless) mapped to routing scenarios.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Supabase + PostGIS: </a:t>
            </a:r>
            <a:r>
              <a:rPr sz="1100">
                <a:solidFill>
                  <a:srgbClr val="2B2F36"/>
                </a:solidFill>
                <a:latin typeface="Calibri"/>
              </a:rPr>
              <a:t>project with spatial schema, RLS, evidence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4223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9E6E"/>
                </a:solidFill>
                <a:latin typeface="Calibri"/>
              </a:defRPr>
            </a:pPr>
            <a:r>
              <a:t>SHOW STOPPERS → RESPONSE (RISK | MITIGATION)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Paid traffic APIs: </a:t>
            </a:r>
            <a:r>
              <a:rPr sz="1100">
                <a:solidFill>
                  <a:srgbClr val="2B2F36"/>
                </a:solidFill>
                <a:latin typeface="Calibri"/>
              </a:rPr>
              <a:t>bypassed — open OSMnx graph + custom A*; freshness shown explicitly.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Unverified coordinates: </a:t>
            </a:r>
            <a:r>
              <a:rPr sz="1100">
                <a:solidFill>
                  <a:srgbClr val="2B2F36"/>
                </a:solidFill>
                <a:latin typeface="Calibri"/>
              </a:rPr>
              <a:t>never auto-applied; review queue (accept / reject) before route cost changes.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Single road blocked: </a:t>
            </a:r>
            <a:r>
              <a:rPr sz="1100">
                <a:solidFill>
                  <a:srgbClr val="2B2F36"/>
                </a:solidFill>
                <a:latin typeface="Calibri"/>
              </a:rPr>
              <a:t>accessibility alert + last feasible plan + escalation path.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E9E6E"/>
                </a:solidFill>
                <a:latin typeface="Calibri"/>
              </a:rPr>
              <a:t>■  </a:t>
            </a:r>
            <a:r>
              <a:rPr sz="1100" b="1">
                <a:solidFill>
                  <a:srgbClr val="2B2F36"/>
                </a:solidFill>
                <a:latin typeface="Calibri"/>
              </a:rPr>
              <a:t>Low-connectivity fields: </a:t>
            </a:r>
            <a:r>
              <a:rPr sz="1100">
                <a:solidFill>
                  <a:srgbClr val="2B2F36"/>
                </a:solidFill>
                <a:latin typeface="Calibri"/>
              </a:rPr>
              <a:t>PWA offline shell + IndexedDB queue with auto-retry on sync.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574"/>
                </a:solidFill>
                <a:latin typeface="Calibri"/>
              </a:defRPr>
            </a:pPr>
            <a:r>
              <a:t>SIH26002  •  RaahSetu  •  Blind evaluation: no institute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B6574"/>
                </a:solidFill>
                <a:latin typeface="Calibri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947</Words>
  <Application>Microsoft Office PowerPoint</Application>
  <PresentationFormat>Widescreen</PresentationFormat>
  <Paragraphs>103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dark devil</cp:lastModifiedBy>
  <cp:revision>2</cp:revision>
  <dcterms:created xsi:type="dcterms:W3CDTF">2013-01-27T09:14:16Z</dcterms:created>
  <dcterms:modified xsi:type="dcterms:W3CDTF">2026-09-10T02:08:38Z</dcterms:modified>
  <cp:category/>
</cp:coreProperties>
</file>