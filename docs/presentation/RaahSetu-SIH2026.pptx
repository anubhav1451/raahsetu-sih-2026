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ccda693af8c4d08" /><Relationship Type="http://schemas.openxmlformats.org/officeDocument/2006/relationships/extended-properties" Target="/docProps/app.xml" Id="Ra01d88bcad644a44" /><Relationship Type="http://schemas.openxmlformats.org/officeDocument/2006/relationships/officeDocument" Target="/ppt/presentation.xml" Id="R9fd7ecd00814442d" /></Relationships>
</file>

<file path=ppt/presentation.xml><?xml version="1.0" encoding="utf-8"?>
<p:presentation xmlns:p="http://schemas.openxmlformats.org/presentationml/2006/main">
  <p:sldMasterIdLst>
    <p:sldMasterId xmlns:r="http://schemas.openxmlformats.org/officeDocument/2006/relationships" id="2147483648" r:id="Rd864d870113c4461"/>
  </p:sldMasterIdLst>
  <p:notesMasterIdLst>
    <p:notesMasterId xmlns:r="http://schemas.openxmlformats.org/officeDocument/2006/relationships" r:id="Rff602164dfed4d91"/>
  </p:notesMasterIdLst>
  <p:sldIdLst>
    <p:sldId xmlns:r="http://schemas.openxmlformats.org/officeDocument/2006/relationships" id="256" r:id="Re4361df626474e12"/>
    <p:sldId xmlns:r="http://schemas.openxmlformats.org/officeDocument/2006/relationships" id="257" r:id="Rf0955ac6e0684c1c"/>
    <p:sldId xmlns:r="http://schemas.openxmlformats.org/officeDocument/2006/relationships" id="258" r:id="R782d675c4d514a0e"/>
    <p:sldId xmlns:r="http://schemas.openxmlformats.org/officeDocument/2006/relationships" id="259" r:id="R5416f6cf62d54c9c"/>
    <p:sldId xmlns:r="http://schemas.openxmlformats.org/officeDocument/2006/relationships" id="260" r:id="Rfa7c8a02926240a8"/>
    <p:sldId xmlns:r="http://schemas.openxmlformats.org/officeDocument/2006/relationships" id="261" r:id="R4b6ab94b143a4a7b"/>
    <p:sldId xmlns:r="http://schemas.openxmlformats.org/officeDocument/2006/relationships" id="262" r:id="Rad6f34030dc34507"/>
    <p:sldId xmlns:r="http://schemas.openxmlformats.org/officeDocument/2006/relationships" id="263" r:id="Rd3a063e3da7f4688"/>
    <p:sldId xmlns:r="http://schemas.openxmlformats.org/officeDocument/2006/relationships" id="264" r:id="Rec3f7838c3b6497f"/>
    <p:sldId xmlns:r="http://schemas.openxmlformats.org/officeDocument/2006/relationships" id="265" r:id="R72cd85f4213f4a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9df16ac04d4e0a" /><Relationship Type="http://schemas.openxmlformats.org/officeDocument/2006/relationships/slideMaster" Target="/ppt/slideMasters/slideMaster1.xml" Id="Rd864d870113c4461" /><Relationship Type="http://schemas.openxmlformats.org/officeDocument/2006/relationships/notesMaster" Target="/ppt/notesMasters/notesMaster1.xml" Id="Rff602164dfed4d91" /><Relationship Type="http://schemas.openxmlformats.org/officeDocument/2006/relationships/presProps" Target="/ppt/presProps.xml" Id="R285cce7f0ac24394" /><Relationship Type="http://schemas.openxmlformats.org/officeDocument/2006/relationships/tableStyles" Target="/ppt/tableStyles.xml" Id="R11e7175895b545cb" /><Relationship Type="http://schemas.openxmlformats.org/officeDocument/2006/relationships/slide" Target="/ppt/slides/slide1.xml" Id="Re4361df626474e12" /><Relationship Type="http://schemas.openxmlformats.org/officeDocument/2006/relationships/slide" Target="/ppt/slides/slide2.xml" Id="Rf0955ac6e0684c1c" /><Relationship Type="http://schemas.openxmlformats.org/officeDocument/2006/relationships/slide" Target="/ppt/slides/slide3.xml" Id="R782d675c4d514a0e" /><Relationship Type="http://schemas.openxmlformats.org/officeDocument/2006/relationships/slide" Target="/ppt/slides/slide4.xml" Id="R5416f6cf62d54c9c" /><Relationship Type="http://schemas.openxmlformats.org/officeDocument/2006/relationships/slide" Target="/ppt/slides/slide5.xml" Id="Rfa7c8a02926240a8" /><Relationship Type="http://schemas.openxmlformats.org/officeDocument/2006/relationships/slide" Target="/ppt/slides/slide6.xml" Id="R4b6ab94b143a4a7b" /><Relationship Type="http://schemas.openxmlformats.org/officeDocument/2006/relationships/slide" Target="/ppt/slides/slide7.xml" Id="Rad6f34030dc34507" /><Relationship Type="http://schemas.openxmlformats.org/officeDocument/2006/relationships/slide" Target="/ppt/slides/slide8.xml" Id="Rd3a063e3da7f4688" /><Relationship Type="http://schemas.openxmlformats.org/officeDocument/2006/relationships/slide" Target="/ppt/slides/slide9.xml" Id="Rec3f7838c3b6497f" /><Relationship Type="http://schemas.openxmlformats.org/officeDocument/2006/relationships/slide" Target="/ppt/slides/slide10.xml" Id="R72cd85f4213f4a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5ae00475c843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21d4f1949134e51" /><Relationship Type="http://schemas.openxmlformats.org/officeDocument/2006/relationships/notesMaster" Target="/ppt/notesMasters/notesMaster1.xml" Id="R7a11f0aaf8ca4fe2" /></Relationships>
</file>

<file path=ppt/notesSlides/_rels/notesSlide2.xml.rels>&#65279;<?xml version="1.0" encoding="utf-8"?><Relationships xmlns="http://schemas.openxmlformats.org/package/2006/relationships"><Relationship Type="http://schemas.openxmlformats.org/officeDocument/2006/relationships/slide" Target="/ppt/slides/slide2.xml" Id="R494e6c392a2a4e22" /><Relationship Type="http://schemas.openxmlformats.org/officeDocument/2006/relationships/notesMaster" Target="/ppt/notesMasters/notesMaster1.xml" Id="R0492f0b2831b49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eba79d53e0234865" /><Relationship Type="http://schemas.openxmlformats.org/officeDocument/2006/relationships/notesMaster" Target="/ppt/notesMasters/notesMaster1.xml" Id="R4460afb9ba234fc5"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cf4d5f7d8b49e9" /><Relationship Type="http://schemas.openxmlformats.org/officeDocument/2006/relationships/notesMaster" Target="/ppt/notesMasters/notesMaster1.xml" Id="Re16e72d4e4df4cd8" /></Relationships>
</file>

<file path=ppt/notesSlides/_rels/notesSlide5.xml.rels>&#65279;<?xml version="1.0" encoding="utf-8"?><Relationships xmlns="http://schemas.openxmlformats.org/package/2006/relationships"><Relationship Type="http://schemas.openxmlformats.org/officeDocument/2006/relationships/slide" Target="/ppt/slides/slide5.xml" Id="R52594609f63143a5" /><Relationship Type="http://schemas.openxmlformats.org/officeDocument/2006/relationships/notesMaster" Target="/ppt/notesMasters/notesMaster1.xml" Id="R062f95beafeb421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2ef1447f584188" /><Relationship Type="http://schemas.openxmlformats.org/officeDocument/2006/relationships/notesMaster" Target="/ppt/notesMasters/notesMaster1.xml" Id="R9a74afd6e15a4b4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81a514307994b95" /><Relationship Type="http://schemas.openxmlformats.org/officeDocument/2006/relationships/notesMaster" Target="/ppt/notesMasters/notesMaster1.xml" Id="Rfe2b54ce58384b15"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479398f8324e58" /><Relationship Type="http://schemas.openxmlformats.org/officeDocument/2006/relationships/notesMaster" Target="/ppt/notesMasters/notesMaster1.xml" Id="R4dcee2def14641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7a47b531a80e4e5d" /><Relationship Type="http://schemas.openxmlformats.org/officeDocument/2006/relationships/notesMaster" Target="/ppt/notesMasters/notesMaster1.xml" Id="R4e2361f9d236408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bcaa89b5ab049ec" /><Relationship Type="http://schemas.openxmlformats.org/officeDocument/2006/relationships/notesMaster" Target="/ppt/notesMasters/notesMaster1.xml" Id="R25686c210b634a4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Working project name. SIH26002 identification is supplied by the team. Verify the official submission wording and template before final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blueprint defines road risk and accessibility as the core problem. The Northeast focus appears in an unofficial SIH archive and should be checked against the team’s official statement. https://sih2026.vuce.in/ps/SIH26002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Implemented in frontend/src/App.tsx and backend/app/routing.py. Closure and weather controls are simulated scenarios. No live GPS tracking or road reporting service is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Editable architecture diagram. Stack follows the user blueprint. Runtime API and frontend are implemented. Supabase migration and import/export tools are prepared but require the team’s database credentials. Docker/K8s manifests are prepared, not deployed. https://osmnx.readthedocs.io/en/stable/user-reference.html ; https://supabase.com/docs/guides/database/extensions/postgis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implementation uses an admissible geodesic lower bound derived from the minimum edge time / geodesic-distance ratio. Non-negative penalties preserve that bound. Scores and coefficients are prototype assumptions. See docs/ARCHITECTURE.md. https://networkx.org/documentation/stable/reference/algorithms/generated/networkx.algorithms.shortest_paths.astar.astar_path.html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receipts and hashes are in datasets/. OSM North-Eastern Zone includes all eight states including Sikkim, verified against the extract polygon. NASA subset: 467 records; variable positional accuracy. NASA actual downloaded event range is 1988–2017 despite older landing-page metadata. Open-Meteo: eight reference points, 2021–2025, 14,608 point-days. 45 elevation tiles downloaded and validated; see the final data manifest. https://download.geofabrik.de/asia/india/north-eastern-zone.html ; https://data.nasa.gov/dataset/global-landslide-catalog-export-f07b6 ; https://open-meteo.com/en/docs/historical-weather-api ; https://registry.opendata.aws/terrain-tiles/ ; https://pwdroads.assam.gov.in/portlets/road-safety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default synthetic fixture result: ner-synthetic-v1, content hash 6b1ee2262f63. Heavy vehicle, risk aversion 1.5, normal weather, no additional closure. Source: backend/scripts/evaluate.py and custom route comparison. These are controlled model results. 75% lower index exposure is not a measured reduction in accidents.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Initial validation: 27 pytest tests pass. Six parameter combinations times 25 randomized journeys times two objectives = 300 independent NetworkX Dijkstra comparisons. 56 fixed ordered synthetic journeys, 34 with lower exposure. Real Guwahati pilot has 5,814 nodes and 13,681 directed edges. Check the repository’s validation records for the current run.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responsibilities for six team members. Names and skill assignments remain for the team to confirm. Detailed acceptance criteria are in docs/TEAM_PLAN.md.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team needs the official problem statement copy, a final name and deadline, corridor selection and domain access. Cloud resources and credentials have not been provisioned. Paper reference: Route Map AI, 2026, DOI 10.59256/ijrtmr.20260602031. Its reported 23.6% is a travel-time result from that paper, not this prototype.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4f72d5bf254a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a5b5c2e1ec34291" /><Relationship Type="http://schemas.openxmlformats.org/officeDocument/2006/relationships/slideLayout" Target="/ppt/slideLayouts/slideLayout1.xml" Id="R31cf77a1e0334a8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1cf77a1e0334a8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a34eac173204f05" /><Relationship Type="http://schemas.openxmlformats.org/officeDocument/2006/relationships/notesSlide" Target="/ppt/notesSlides/notesSlide1.xml" Id="Rde0a7c8b5bbb40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c0bdec83c0c4a4f" /><Relationship Type="http://schemas.openxmlformats.org/officeDocument/2006/relationships/notesSlide" Target="/ppt/notesSlides/notesSlide2.xml" Id="R5ee0ba74d19c48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61e4479c6f341b8" /><Relationship Type="http://schemas.openxmlformats.org/officeDocument/2006/relationships/notesSlide" Target="/ppt/notesSlides/notesSlide3.xml" Id="Rb603dae7376a450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7cc9f3a821c493c" /><Relationship Type="http://schemas.openxmlformats.org/officeDocument/2006/relationships/notesSlide" Target="/ppt/notesSlides/notesSlide4.xml" Id="R14f9812384ef474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275ed56d8ab40c7" /><Relationship Type="http://schemas.openxmlformats.org/officeDocument/2006/relationships/notesSlide" Target="/ppt/notesSlides/notesSlide5.xml" Id="R29b37fca55be468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04bb410d73f464c" /><Relationship Type="http://schemas.openxmlformats.org/officeDocument/2006/relationships/notesSlide" Target="/ppt/notesSlides/notesSlide6.xml" Id="Rfef372312f5f43f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05ce7ec7ae542fd" /><Relationship Type="http://schemas.openxmlformats.org/officeDocument/2006/relationships/notesSlide" Target="/ppt/notesSlides/notesSlide7.xml" Id="Rf4db3e1d7225401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bd27259f202a4dfd" /><Relationship Type="http://schemas.openxmlformats.org/officeDocument/2006/relationships/notesSlide" Target="/ppt/notesSlides/notesSlide8.xml" Id="R0b85c85165b0403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e0259cf321f4a62" /><Relationship Type="http://schemas.openxmlformats.org/officeDocument/2006/relationships/notesSlide" Target="/ppt/notesSlides/notesSlide9.xml" Id="R6573be9aad1e4ab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0a0dff9daf114a04" /><Relationship Type="http://schemas.openxmlformats.org/officeDocument/2006/relationships/notesSlide" Target="/ppt/notesSlides/notesSlide10.xml" Id="R61a3878ef6c74338" /></Relationships>
</file>

<file path=ppt/slides/slide1.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DE1E3E3-D5FB-46C3-9191-85042CF94C96}"/>
              </a:ext>
            </a:extLst>
          </p:cNvPr>
          <p:cNvSpPr>
            <a:spLocks xmlns:a="http://schemas.openxmlformats.org/drawingml/2006/main" noGrp="1"/>
          </p:cNvSpPr>
          <p:nvPr/>
        </p:nvSpPr>
        <p:spPr>
          <a:xfrm xmlns:a="http://schemas.openxmlformats.org/drawingml/2006/main">
            <a:off x="609600" y="1562100"/>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1">
                <a:solidFill>
                  <a:srgbClr val="8AF4CB"/>
                </a:solidFill>
                <a:latin typeface="Arial"/>
                <a:ea typeface="Arial"/>
                <a:cs typeface="Arial"/>
              </a:defRPr>
            </a:pPr>
            <a:r>
              <a:rPr sz="7200" b="1">
                <a:solidFill>
                  <a:srgbClr val="8AF4CB"/>
                </a:solidFill>
                <a:latin typeface="Arial"/>
                <a:ea typeface="Arial"/>
                <a:cs typeface="Arial"/>
              </a:rPr>
              <a:t>RaahSetu</a:t>
            </a:r>
          </a:p>
        </p:txBody>
      </p:sp>
      <p:sp>
        <p:nvSpPr>
          <p:cNvPr id="2" name="">
            <a:extLst xmlns:a="http://schemas.openxmlformats.org/drawingml/2006/main">
              <a:ext uri="{FF2B5EF4-FFF2-40B4-BE49-F238E27FC236}">
                <a16:creationId xmlns:a16="http://schemas.microsoft.com/office/drawing/2014/main" id="{53994E15-6BC1-4CCF-8B5F-98BBDE84093F}"/>
              </a:ext>
            </a:extLst>
          </p:cNvPr>
          <p:cNvSpPr>
            <a:spLocks xmlns:a="http://schemas.openxmlformats.org/drawingml/2006/main" noGrp="1"/>
          </p:cNvSpPr>
          <p:nvPr/>
        </p:nvSpPr>
        <p:spPr>
          <a:xfrm xmlns:a="http://schemas.openxmlformats.org/drawingml/2006/main">
            <a:off x="666750" y="3143250"/>
            <a:ext cx="10572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E5F1EC"/>
                </a:solidFill>
                <a:latin typeface="Arial"/>
                <a:ea typeface="Arial"/>
                <a:cs typeface="Arial"/>
              </a:defRPr>
            </a:pPr>
            <a:r>
              <a:rPr sz="3300" b="1">
                <a:solidFill>
                  <a:srgbClr val="E5F1EC"/>
                </a:solidFill>
                <a:latin typeface="Arial"/>
                <a:ea typeface="Arial"/>
                <a:cs typeface="Arial"/>
              </a:rPr>
              <a:t>Risk-aware logistics for</a:t>
            </a:r>
          </a:p>
          <a:p xmlns:a="http://schemas.openxmlformats.org/drawingml/2006/main">
            <a:pPr>
              <a:defRPr sz="3300" b="1">
                <a:solidFill>
                  <a:srgbClr val="E5F1EC"/>
                </a:solidFill>
                <a:latin typeface="Arial"/>
                <a:ea typeface="Arial"/>
                <a:cs typeface="Arial"/>
              </a:defRPr>
            </a:pPr>
            <a:r>
              <a:rPr sz="3300" b="1">
                <a:solidFill>
                  <a:srgbClr val="E5F1EC"/>
                </a:solidFill>
                <a:latin typeface="Arial"/>
                <a:ea typeface="Arial"/>
                <a:cs typeface="Arial"/>
              </a:rPr>
              <a:t>North-East India</a:t>
            </a:r>
          </a:p>
        </p:txBody>
      </p:sp>
      <p:sp>
        <p:nvSpPr>
          <p:cNvPr id="3" name="">
            <a:extLst xmlns:a="http://schemas.openxmlformats.org/drawingml/2006/main">
              <a:ext uri="{FF2B5EF4-FFF2-40B4-BE49-F238E27FC236}">
                <a16:creationId xmlns:a16="http://schemas.microsoft.com/office/drawing/2014/main" id="{DB5E0840-7558-40FB-9946-1C01923CFB45}"/>
              </a:ext>
            </a:extLst>
          </p:cNvPr>
          <p:cNvSpPr>
            <a:spLocks xmlns:a="http://schemas.openxmlformats.org/drawingml/2006/main" noGrp="1"/>
          </p:cNvSpPr>
          <p:nvPr/>
        </p:nvSpPr>
        <p:spPr>
          <a:xfrm xmlns:a="http://schemas.openxmlformats.org/drawingml/2006/main">
            <a:off x="704850" y="5429250"/>
            <a:ext cx="9906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6BCBA"/>
                </a:solidFill>
                <a:latin typeface="Arial"/>
                <a:ea typeface="Arial"/>
                <a:cs typeface="Arial"/>
              </a:defRPr>
            </a:pPr>
            <a:r>
              <a:rPr sz="1800" b="0">
                <a:solidFill>
                  <a:srgbClr val="A6BCBA"/>
                </a:solidFill>
                <a:latin typeface="Arial"/>
                <a:ea typeface="Arial"/>
                <a:cs typeface="Arial"/>
              </a:rPr>
              <a:t>SIH 2026  /  SIH26002</a:t>
            </a:r>
          </a:p>
          <a:p xmlns:a="http://schemas.openxmlformats.org/drawingml/2006/main">
            <a:pPr>
              <a:defRPr sz="1800" b="0">
                <a:solidFill>
                  <a:srgbClr val="A6BCBA"/>
                </a:solidFill>
                <a:latin typeface="Arial"/>
                <a:ea typeface="Arial"/>
                <a:cs typeface="Arial"/>
              </a:defRPr>
            </a:pPr>
            <a:r>
              <a:rPr sz="1800" b="0">
                <a:solidFill>
                  <a:srgbClr val="A6BCBA"/>
                </a:solidFill>
                <a:latin typeface="Arial"/>
                <a:ea typeface="Arial"/>
                <a:cs typeface="Arial"/>
              </a:rPr>
              <a:t>Team prototype and execution blueprint</a:t>
            </a:r>
          </a:p>
        </p:txBody>
      </p:sp>
    </p:spTree>
    <p:extLst>
      <p:ext uri="{BB962C8B-B14F-4D97-AF65-F5344CB8AC3E}">
        <p14:creationId xmlns:p14="http://schemas.microsoft.com/office/powerpoint/2010/main" val="2015492072"/>
      </p:ext>
    </p:extLst>
  </p:cSld>
</p:sld>
</file>

<file path=ppt/slides/slide2.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8353313-4414-443C-8031-CB6728DE4B37}"/>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The logistics decision</a:t>
            </a:r>
          </a:p>
        </p:txBody>
      </p:sp>
      <p:sp>
        <p:nvSpPr>
          <p:cNvPr id="2" name="">
            <a:extLst xmlns:a="http://schemas.openxmlformats.org/drawingml/2006/main">
              <a:ext uri="{FF2B5EF4-FFF2-40B4-BE49-F238E27FC236}">
                <a16:creationId xmlns:a16="http://schemas.microsoft.com/office/drawing/2014/main" id="{250C10B3-9661-4B1A-9EE6-FE7CE59CACA3}"/>
              </a:ext>
            </a:extLst>
          </p:cNvPr>
          <p:cNvSpPr>
            <a:spLocks xmlns:a="http://schemas.openxmlformats.org/drawingml/2006/main" noGrp="1"/>
          </p:cNvSpPr>
          <p:nvPr/>
        </p:nvSpPr>
        <p:spPr>
          <a:xfrm xmlns:a="http://schemas.openxmlformats.org/drawingml/2006/main">
            <a:off x="609600" y="1619250"/>
            <a:ext cx="10572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75" b="1">
                <a:solidFill>
                  <a:srgbClr val="E5F1EC"/>
                </a:solidFill>
                <a:latin typeface="Arial"/>
                <a:ea typeface="Arial"/>
                <a:cs typeface="Arial"/>
              </a:defRPr>
            </a:pPr>
            <a:r>
              <a:rPr sz="3075" b="1">
                <a:solidFill>
                  <a:srgbClr val="E5F1EC"/>
                </a:solidFill>
                <a:latin typeface="Arial"/>
                <a:ea typeface="Arial"/>
                <a:cs typeface="Arial"/>
              </a:rPr>
              <a:t>A fast route can expose a delivery</a:t>
            </a:r>
          </a:p>
          <a:p xmlns:a="http://schemas.openxmlformats.org/drawingml/2006/main">
            <a:pPr>
              <a:defRPr sz="3075" b="1">
                <a:solidFill>
                  <a:srgbClr val="E5F1EC"/>
                </a:solidFill>
                <a:latin typeface="Arial"/>
                <a:ea typeface="Arial"/>
                <a:cs typeface="Arial"/>
              </a:defRPr>
            </a:pPr>
            <a:r>
              <a:rPr sz="3075" b="1">
                <a:solidFill>
                  <a:srgbClr val="E5F1EC"/>
                </a:solidFill>
                <a:latin typeface="Arial"/>
                <a:ea typeface="Arial"/>
                <a:cs typeface="Arial"/>
              </a:rPr>
              <a:t>to a hazardous or inaccessible road.</a:t>
            </a:r>
          </a:p>
        </p:txBody>
      </p:sp>
      <p:sp>
        <p:nvSpPr>
          <p:cNvPr id="3" name="">
            <a:extLst xmlns:a="http://schemas.openxmlformats.org/drawingml/2006/main">
              <a:ext uri="{FF2B5EF4-FFF2-40B4-BE49-F238E27FC236}">
                <a16:creationId xmlns:a16="http://schemas.microsoft.com/office/drawing/2014/main" id="{C048B487-1348-477B-A9B2-17F015AD7E4A}"/>
              </a:ext>
            </a:extLst>
          </p:cNvPr>
          <p:cNvSpPr>
            <a:spLocks xmlns:a="http://schemas.openxmlformats.org/drawingml/2006/main" noGrp="1"/>
          </p:cNvSpPr>
          <p:nvPr/>
        </p:nvSpPr>
        <p:spPr>
          <a:xfrm xmlns:a="http://schemas.openxmlformats.org/drawingml/2006/main">
            <a:off x="609600" y="3571875"/>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A6BCBA"/>
                </a:solidFill>
                <a:latin typeface="Arial"/>
                <a:ea typeface="Arial"/>
                <a:cs typeface="Arial"/>
              </a:defRPr>
            </a:pPr>
            <a:r>
              <a:rPr sz="2175" b="0">
                <a:solidFill>
                  <a:srgbClr val="A6BCBA"/>
                </a:solidFill>
                <a:latin typeface="Arial"/>
                <a:ea typeface="Arial"/>
                <a:cs typeface="Arial"/>
              </a:rPr>
              <a:t>Operators need the time cost of a detour, the evidence behind it,</a:t>
            </a:r>
          </a:p>
          <a:p xmlns:a="http://schemas.openxmlformats.org/drawingml/2006/main">
            <a:pPr>
              <a:defRPr sz="2175" b="0">
                <a:solidFill>
                  <a:srgbClr val="A6BCBA"/>
                </a:solidFill>
                <a:latin typeface="Arial"/>
                <a:ea typeface="Arial"/>
                <a:cs typeface="Arial"/>
              </a:defRPr>
            </a:pPr>
            <a:r>
              <a:rPr sz="2175" b="0">
                <a:solidFill>
                  <a:srgbClr val="A6BCBA"/>
                </a:solidFill>
                <a:latin typeface="Arial"/>
                <a:ea typeface="Arial"/>
                <a:cs typeface="Arial"/>
              </a:rPr>
              <a:t>and a clear answer when no feasible route remains.</a:t>
            </a:r>
          </a:p>
        </p:txBody>
      </p:sp>
      <p:sp>
        <p:nvSpPr>
          <p:cNvPr id="4" name="">
            <a:extLst xmlns:a="http://schemas.openxmlformats.org/drawingml/2006/main">
              <a:ext uri="{FF2B5EF4-FFF2-40B4-BE49-F238E27FC236}">
                <a16:creationId xmlns:a16="http://schemas.microsoft.com/office/drawing/2014/main" id="{B406AF6A-5502-475D-B088-9B389C2CBF30}"/>
              </a:ext>
            </a:extLst>
          </p:cNvPr>
          <p:cNvSpPr>
            <a:spLocks xmlns:a="http://schemas.openxmlformats.org/drawingml/2006/main" noGrp="1"/>
          </p:cNvSpPr>
          <p:nvPr/>
        </p:nvSpPr>
        <p:spPr>
          <a:xfrm xmlns:a="http://schemas.openxmlformats.org/drawingml/2006/main">
            <a:off x="609600" y="5191125"/>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8AF4CB"/>
                </a:solidFill>
                <a:latin typeface="Arial"/>
                <a:ea typeface="Arial"/>
                <a:cs typeface="Arial"/>
              </a:defRPr>
            </a:pPr>
            <a:r>
              <a:rPr sz="1875" b="0">
                <a:solidFill>
                  <a:srgbClr val="8AF4CB"/>
                </a:solidFill>
                <a:latin typeface="Arial"/>
                <a:ea typeface="Arial"/>
                <a:cs typeface="Arial"/>
              </a:rPr>
              <a:t>First use case: essential supplies moving between a distribution hub</a:t>
            </a:r>
          </a:p>
          <a:p xmlns:a="http://schemas.openxmlformats.org/drawingml/2006/main">
            <a:pPr>
              <a:defRPr sz="1875" b="0">
                <a:solidFill>
                  <a:srgbClr val="8AF4CB"/>
                </a:solidFill>
                <a:latin typeface="Arial"/>
                <a:ea typeface="Arial"/>
                <a:cs typeface="Arial"/>
              </a:defRPr>
            </a:pPr>
            <a:r>
              <a:rPr sz="1875" b="0">
                <a:solidFill>
                  <a:srgbClr val="8AF4CB"/>
                </a:solidFill>
                <a:latin typeface="Arial"/>
                <a:ea typeface="Arial"/>
                <a:cs typeface="Arial"/>
              </a:rPr>
              <a:t>and a medical depot under changing road conditions.</a:t>
            </a:r>
          </a:p>
        </p:txBody>
      </p:sp>
    </p:spTree>
    <p:extLst>
      <p:ext uri="{BB962C8B-B14F-4D97-AF65-F5344CB8AC3E}">
        <p14:creationId xmlns:p14="http://schemas.microsoft.com/office/powerpoint/2010/main" val="1009286037"/>
      </p:ext>
    </p:extLst>
  </p:cSld>
</p:sld>
</file>

<file path=ppt/slides/slide3.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C4BDE55-A28E-452E-A763-37AED115734F}"/>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The operator workflow</a:t>
            </a:r>
          </a:p>
        </p:txBody>
      </p:sp>
      <p:sp>
        <p:nvSpPr>
          <p:cNvPr id="2" name="">
            <a:extLst xmlns:a="http://schemas.openxmlformats.org/drawingml/2006/main">
              <a:ext uri="{FF2B5EF4-FFF2-40B4-BE49-F238E27FC236}">
                <a16:creationId xmlns:a16="http://schemas.microsoft.com/office/drawing/2014/main" id="{1246E647-9D06-4E2F-AAD8-729BCB7BC735}"/>
              </a:ext>
            </a:extLst>
          </p:cNvPr>
          <p:cNvSpPr>
            <a:spLocks xmlns:a="http://schemas.openxmlformats.org/drawingml/2006/main" noGrp="1"/>
          </p:cNvSpPr>
          <p:nvPr/>
        </p:nvSpPr>
        <p:spPr>
          <a:xfrm xmlns:a="http://schemas.openxmlformats.org/drawingml/2006/main">
            <a:off x="609600" y="1552575"/>
            <a:ext cx="809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8AF4CB"/>
                </a:solidFill>
                <a:latin typeface="Arial"/>
                <a:ea typeface="Arial"/>
                <a:cs typeface="Arial"/>
              </a:defRPr>
            </a:pPr>
            <a:r>
              <a:rPr sz="3000" b="1">
                <a:solidFill>
                  <a:srgbClr val="8AF4CB"/>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93F97C33-1A1B-4193-94AB-8A43A8B52E7B}"/>
              </a:ext>
            </a:extLst>
          </p:cNvPr>
          <p:cNvSpPr>
            <a:spLocks xmlns:a="http://schemas.openxmlformats.org/drawingml/2006/main" noGrp="1"/>
          </p:cNvSpPr>
          <p:nvPr/>
        </p:nvSpPr>
        <p:spPr>
          <a:xfrm xmlns:a="http://schemas.openxmlformats.org/drawingml/2006/main">
            <a:off x="1714500" y="1552575"/>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E5F1EC"/>
                </a:solidFill>
                <a:latin typeface="Arial"/>
                <a:ea typeface="Arial"/>
                <a:cs typeface="Arial"/>
              </a:defRPr>
            </a:pPr>
            <a:r>
              <a:rPr sz="2175" b="1">
                <a:solidFill>
                  <a:srgbClr val="E5F1EC"/>
                </a:solidFill>
                <a:latin typeface="Arial"/>
                <a:ea typeface="Arial"/>
                <a:cs typeface="Arial"/>
              </a:rPr>
              <a:t>Set the journey</a:t>
            </a:r>
          </a:p>
        </p:txBody>
      </p:sp>
      <p:sp>
        <p:nvSpPr>
          <p:cNvPr id="4" name="">
            <a:extLst xmlns:a="http://schemas.openxmlformats.org/drawingml/2006/main">
              <a:ext uri="{FF2B5EF4-FFF2-40B4-BE49-F238E27FC236}">
                <a16:creationId xmlns:a16="http://schemas.microsoft.com/office/drawing/2014/main" id="{0039BD1D-10CD-41DF-B2D6-6B180675ABF7}"/>
              </a:ext>
            </a:extLst>
          </p:cNvPr>
          <p:cNvSpPr>
            <a:spLocks xmlns:a="http://schemas.openxmlformats.org/drawingml/2006/main" noGrp="1"/>
          </p:cNvSpPr>
          <p:nvPr/>
        </p:nvSpPr>
        <p:spPr>
          <a:xfrm xmlns:a="http://schemas.openxmlformats.org/drawingml/2006/main">
            <a:off x="1714500" y="1971675"/>
            <a:ext cx="942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6BCBA"/>
                </a:solidFill>
                <a:latin typeface="Arial"/>
                <a:ea typeface="Arial"/>
                <a:cs typeface="Arial"/>
              </a:defRPr>
            </a:pPr>
            <a:r>
              <a:rPr sz="1800" b="0">
                <a:solidFill>
                  <a:srgbClr val="A6BCBA"/>
                </a:solidFill>
                <a:latin typeface="Arial"/>
                <a:ea typeface="Arial"/>
                <a:cs typeface="Arial"/>
              </a:rPr>
              <a:t>Choose endpoints and a vehicle profile.</a:t>
            </a:r>
          </a:p>
        </p:txBody>
      </p:sp>
      <p:sp>
        <p:nvSpPr>
          <p:cNvPr id="5" name="">
            <a:extLst xmlns:a="http://schemas.openxmlformats.org/drawingml/2006/main">
              <a:ext uri="{FF2B5EF4-FFF2-40B4-BE49-F238E27FC236}">
                <a16:creationId xmlns:a16="http://schemas.microsoft.com/office/drawing/2014/main" id="{3E94E420-EBAC-43FC-A7A9-20E307FA5AFA}"/>
              </a:ext>
            </a:extLst>
          </p:cNvPr>
          <p:cNvSpPr>
            <a:spLocks xmlns:a="http://schemas.openxmlformats.org/drawingml/2006/main" noGrp="1"/>
          </p:cNvSpPr>
          <p:nvPr/>
        </p:nvSpPr>
        <p:spPr>
          <a:xfrm xmlns:a="http://schemas.openxmlformats.org/drawingml/2006/main">
            <a:off x="609600" y="2619375"/>
            <a:ext cx="809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8AF4CB"/>
                </a:solidFill>
                <a:latin typeface="Arial"/>
                <a:ea typeface="Arial"/>
                <a:cs typeface="Arial"/>
              </a:defRPr>
            </a:pPr>
            <a:r>
              <a:rPr sz="3000" b="1">
                <a:solidFill>
                  <a:srgbClr val="8AF4CB"/>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B31EC371-C522-4A1F-88B5-4B31FE9CF2A0}"/>
              </a:ext>
            </a:extLst>
          </p:cNvPr>
          <p:cNvSpPr>
            <a:spLocks xmlns:a="http://schemas.openxmlformats.org/drawingml/2006/main" noGrp="1"/>
          </p:cNvSpPr>
          <p:nvPr/>
        </p:nvSpPr>
        <p:spPr>
          <a:xfrm xmlns:a="http://schemas.openxmlformats.org/drawingml/2006/main">
            <a:off x="1714500" y="2619375"/>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E5F1EC"/>
                </a:solidFill>
                <a:latin typeface="Arial"/>
                <a:ea typeface="Arial"/>
                <a:cs typeface="Arial"/>
              </a:defRPr>
            </a:pPr>
            <a:r>
              <a:rPr sz="2175" b="1">
                <a:solidFill>
                  <a:srgbClr val="E5F1EC"/>
                </a:solidFill>
                <a:latin typeface="Arial"/>
                <a:ea typeface="Arial"/>
                <a:cs typeface="Arial"/>
              </a:rPr>
              <a:t>Compare routes</a:t>
            </a:r>
          </a:p>
        </p:txBody>
      </p:sp>
      <p:sp>
        <p:nvSpPr>
          <p:cNvPr id="7" name="">
            <a:extLst xmlns:a="http://schemas.openxmlformats.org/drawingml/2006/main">
              <a:ext uri="{FF2B5EF4-FFF2-40B4-BE49-F238E27FC236}">
                <a16:creationId xmlns:a16="http://schemas.microsoft.com/office/drawing/2014/main" id="{AB38B7FD-3180-4568-A024-AD4486DE23E0}"/>
              </a:ext>
            </a:extLst>
          </p:cNvPr>
          <p:cNvSpPr>
            <a:spLocks xmlns:a="http://schemas.openxmlformats.org/drawingml/2006/main" noGrp="1"/>
          </p:cNvSpPr>
          <p:nvPr/>
        </p:nvSpPr>
        <p:spPr>
          <a:xfrm xmlns:a="http://schemas.openxmlformats.org/drawingml/2006/main">
            <a:off x="1714500" y="3038475"/>
            <a:ext cx="942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6BCBA"/>
                </a:solidFill>
                <a:latin typeface="Arial"/>
                <a:ea typeface="Arial"/>
                <a:cs typeface="Arial"/>
              </a:defRPr>
            </a:pPr>
            <a:r>
              <a:rPr sz="1800" b="0">
                <a:solidFill>
                  <a:srgbClr val="A6BCBA"/>
                </a:solidFill>
                <a:latin typeface="Arial"/>
                <a:ea typeface="Arial"/>
                <a:cs typeface="Arial"/>
              </a:rPr>
              <a:t>Inspect estimated time, distance and risk exposure.</a:t>
            </a:r>
          </a:p>
        </p:txBody>
      </p:sp>
      <p:sp>
        <p:nvSpPr>
          <p:cNvPr id="8" name="">
            <a:extLst xmlns:a="http://schemas.openxmlformats.org/drawingml/2006/main">
              <a:ext uri="{FF2B5EF4-FFF2-40B4-BE49-F238E27FC236}">
                <a16:creationId xmlns:a16="http://schemas.microsoft.com/office/drawing/2014/main" id="{A50BB494-DA7C-426B-B49C-80575C2A275B}"/>
              </a:ext>
            </a:extLst>
          </p:cNvPr>
          <p:cNvSpPr>
            <a:spLocks xmlns:a="http://schemas.openxmlformats.org/drawingml/2006/main" noGrp="1"/>
          </p:cNvSpPr>
          <p:nvPr/>
        </p:nvSpPr>
        <p:spPr>
          <a:xfrm xmlns:a="http://schemas.openxmlformats.org/drawingml/2006/main">
            <a:off x="609600" y="3686175"/>
            <a:ext cx="809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8AF4CB"/>
                </a:solidFill>
                <a:latin typeface="Arial"/>
                <a:ea typeface="Arial"/>
                <a:cs typeface="Arial"/>
              </a:defRPr>
            </a:pPr>
            <a:r>
              <a:rPr sz="3000" b="1">
                <a:solidFill>
                  <a:srgbClr val="8AF4CB"/>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EAFC755B-8AE8-42E8-B557-95319F1DA2D1}"/>
              </a:ext>
            </a:extLst>
          </p:cNvPr>
          <p:cNvSpPr>
            <a:spLocks xmlns:a="http://schemas.openxmlformats.org/drawingml/2006/main" noGrp="1"/>
          </p:cNvSpPr>
          <p:nvPr/>
        </p:nvSpPr>
        <p:spPr>
          <a:xfrm xmlns:a="http://schemas.openxmlformats.org/drawingml/2006/main">
            <a:off x="1714500" y="3686175"/>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E5F1EC"/>
                </a:solidFill>
                <a:latin typeface="Arial"/>
                <a:ea typeface="Arial"/>
                <a:cs typeface="Arial"/>
              </a:defRPr>
            </a:pPr>
            <a:r>
              <a:rPr sz="2175" b="1">
                <a:solidFill>
                  <a:srgbClr val="E5F1EC"/>
                </a:solidFill>
                <a:latin typeface="Arial"/>
                <a:ea typeface="Arial"/>
                <a:cs typeface="Arial"/>
              </a:rPr>
              <a:t>Inspect the reason</a:t>
            </a:r>
          </a:p>
        </p:txBody>
      </p:sp>
      <p:sp>
        <p:nvSpPr>
          <p:cNvPr id="10" name="">
            <a:extLst xmlns:a="http://schemas.openxmlformats.org/drawingml/2006/main">
              <a:ext uri="{FF2B5EF4-FFF2-40B4-BE49-F238E27FC236}">
                <a16:creationId xmlns:a16="http://schemas.microsoft.com/office/drawing/2014/main" id="{3F56A6F9-A260-431E-B8C8-949C3A6717C9}"/>
              </a:ext>
            </a:extLst>
          </p:cNvPr>
          <p:cNvSpPr>
            <a:spLocks xmlns:a="http://schemas.openxmlformats.org/drawingml/2006/main" noGrp="1"/>
          </p:cNvSpPr>
          <p:nvPr/>
        </p:nvSpPr>
        <p:spPr>
          <a:xfrm xmlns:a="http://schemas.openxmlformats.org/drawingml/2006/main">
            <a:off x="1714500" y="4105275"/>
            <a:ext cx="942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6BCBA"/>
                </a:solidFill>
                <a:latin typeface="Arial"/>
                <a:ea typeface="Arial"/>
                <a:cs typeface="Arial"/>
              </a:defRPr>
            </a:pPr>
            <a:r>
              <a:rPr sz="1800" b="0">
                <a:solidFill>
                  <a:srgbClr val="A6BCBA"/>
                </a:solidFill>
                <a:latin typeface="Arial"/>
                <a:ea typeface="Arial"/>
                <a:cs typeface="Arial"/>
              </a:rPr>
              <a:t>See which higher-risk roads the detour avoids.</a:t>
            </a:r>
          </a:p>
        </p:txBody>
      </p:sp>
      <p:sp>
        <p:nvSpPr>
          <p:cNvPr id="11" name="">
            <a:extLst xmlns:a="http://schemas.openxmlformats.org/drawingml/2006/main">
              <a:ext uri="{FF2B5EF4-FFF2-40B4-BE49-F238E27FC236}">
                <a16:creationId xmlns:a16="http://schemas.microsoft.com/office/drawing/2014/main" id="{BF504B0B-9B70-420E-8C63-32DC6F26C4B6}"/>
              </a:ext>
            </a:extLst>
          </p:cNvPr>
          <p:cNvSpPr>
            <a:spLocks xmlns:a="http://schemas.openxmlformats.org/drawingml/2006/main" noGrp="1"/>
          </p:cNvSpPr>
          <p:nvPr/>
        </p:nvSpPr>
        <p:spPr>
          <a:xfrm xmlns:a="http://schemas.openxmlformats.org/drawingml/2006/main">
            <a:off x="609600" y="4752975"/>
            <a:ext cx="809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8AF4CB"/>
                </a:solidFill>
                <a:latin typeface="Arial"/>
                <a:ea typeface="Arial"/>
                <a:cs typeface="Arial"/>
              </a:defRPr>
            </a:pPr>
            <a:r>
              <a:rPr sz="3000" b="1">
                <a:solidFill>
                  <a:srgbClr val="8AF4CB"/>
                </a:solidFill>
                <a:latin typeface="Arial"/>
                <a:ea typeface="Arial"/>
                <a:cs typeface="Arial"/>
              </a:rPr>
              <a:t>04</a:t>
            </a:r>
          </a:p>
        </p:txBody>
      </p:sp>
      <p:sp>
        <p:nvSpPr>
          <p:cNvPr id="12" name="">
            <a:extLst xmlns:a="http://schemas.openxmlformats.org/drawingml/2006/main">
              <a:ext uri="{FF2B5EF4-FFF2-40B4-BE49-F238E27FC236}">
                <a16:creationId xmlns:a16="http://schemas.microsoft.com/office/drawing/2014/main" id="{00ABB1E7-AE7C-4498-9FE7-4E95853ACC53}"/>
              </a:ext>
            </a:extLst>
          </p:cNvPr>
          <p:cNvSpPr>
            <a:spLocks xmlns:a="http://schemas.openxmlformats.org/drawingml/2006/main" noGrp="1"/>
          </p:cNvSpPr>
          <p:nvPr/>
        </p:nvSpPr>
        <p:spPr>
          <a:xfrm xmlns:a="http://schemas.openxmlformats.org/drawingml/2006/main">
            <a:off x="1714500" y="4752975"/>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E5F1EC"/>
                </a:solidFill>
                <a:latin typeface="Arial"/>
                <a:ea typeface="Arial"/>
                <a:cs typeface="Arial"/>
              </a:defRPr>
            </a:pPr>
            <a:r>
              <a:rPr sz="2175" b="1">
                <a:solidFill>
                  <a:srgbClr val="E5F1EC"/>
                </a:solidFill>
                <a:latin typeface="Arial"/>
                <a:ea typeface="Arial"/>
                <a:cs typeface="Arial"/>
              </a:rPr>
              <a:t>Test disruption</a:t>
            </a:r>
          </a:p>
        </p:txBody>
      </p:sp>
      <p:sp>
        <p:nvSpPr>
          <p:cNvPr id="13" name="">
            <a:extLst xmlns:a="http://schemas.openxmlformats.org/drawingml/2006/main">
              <a:ext uri="{FF2B5EF4-FFF2-40B4-BE49-F238E27FC236}">
                <a16:creationId xmlns:a16="http://schemas.microsoft.com/office/drawing/2014/main" id="{37FAABB6-08CC-4A4E-9501-9471702B807F}"/>
              </a:ext>
            </a:extLst>
          </p:cNvPr>
          <p:cNvSpPr>
            <a:spLocks xmlns:a="http://schemas.openxmlformats.org/drawingml/2006/main" noGrp="1"/>
          </p:cNvSpPr>
          <p:nvPr/>
        </p:nvSpPr>
        <p:spPr>
          <a:xfrm xmlns:a="http://schemas.openxmlformats.org/drawingml/2006/main">
            <a:off x="1714500" y="5172075"/>
            <a:ext cx="94297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A6BCBA"/>
                </a:solidFill>
                <a:latin typeface="Arial"/>
                <a:ea typeface="Arial"/>
                <a:cs typeface="Arial"/>
              </a:defRPr>
            </a:pPr>
            <a:r>
              <a:rPr sz="1800" b="0">
                <a:solidFill>
                  <a:srgbClr val="A6BCBA"/>
                </a:solidFill>
                <a:latin typeface="Arial"/>
                <a:ea typeface="Arial"/>
                <a:cs typeface="Arial"/>
              </a:rPr>
              <a:t>Close a road and observe rerouting or lost accessibility.</a:t>
            </a:r>
          </a:p>
        </p:txBody>
      </p:sp>
    </p:spTree>
    <p:extLst>
      <p:ext uri="{BB962C8B-B14F-4D97-AF65-F5344CB8AC3E}">
        <p14:creationId xmlns:p14="http://schemas.microsoft.com/office/powerpoint/2010/main" val="1481954360"/>
      </p:ext>
    </p:extLst>
  </p:cSld>
</p:sld>
</file>

<file path=ppt/slides/slide4.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8B1B69-E7D6-47CA-B398-E01BF3D102DE}"/>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Architecture</a:t>
            </a:r>
          </a:p>
        </p:txBody>
      </p:sp>
      <p:sp>
        <p:nvSpPr>
          <p:cNvPr id="2" name="">
            <a:extLst xmlns:a="http://schemas.openxmlformats.org/drawingml/2006/main">
              <a:ext uri="{FF2B5EF4-FFF2-40B4-BE49-F238E27FC236}">
                <a16:creationId xmlns:a16="http://schemas.microsoft.com/office/drawing/2014/main" id="{E4E51A70-F4FE-4A24-A4EB-DD0441E5BBAD}"/>
              </a:ext>
            </a:extLst>
          </p:cNvPr>
          <p:cNvSpPr>
            <a:spLocks xmlns:a="http://schemas.openxmlformats.org/drawingml/2006/main" noGrp="1"/>
          </p:cNvSpPr>
          <p:nvPr/>
        </p:nvSpPr>
        <p:spPr>
          <a:xfrm xmlns:a="http://schemas.openxmlformats.org/drawingml/2006/main">
            <a:off x="609600" y="1714500"/>
            <a:ext cx="2857500" cy="895350"/>
          </a:xfrm>
          <a:prstGeom xmlns:a="http://schemas.openxmlformats.org/drawingml/2006/main" prst="rect">
            <a:avLst/>
          </a:prstGeom>
          <a:solidFill xmlns:a="http://schemas.openxmlformats.org/drawingml/2006/main">
            <a:srgbClr val="1B302E"/>
          </a:solidFill>
          <a:ln xmlns:a="http://schemas.openxmlformats.org/drawingml/2006/main" w="13335">
            <a:solidFill>
              <a:srgbClr val="739C8D"/>
            </a:solidFill>
          </a:ln>
        </p:spPr>
        <p:txBody>
          <a:bodyPr xmlns:a="http://schemas.openxmlformats.org/drawingml/2006/main">
            <a:noAutofit/>
          </a:bodyPr>
          <a:lstStyle xmlns:a="http://schemas.openxmlformats.org/drawingml/2006/main"/>
          <a:p xmlns:a="http://schemas.openxmlformats.org/drawingml/2006/main">
            <a:pPr>
              <a:defRPr sz="1875" b="1">
                <a:solidFill>
                  <a:srgbClr val="E5F1EC"/>
                </a:solidFill>
                <a:latin typeface="Arial"/>
                <a:ea typeface="Arial"/>
                <a:cs typeface="Arial"/>
              </a:defRPr>
            </a:pPr>
            <a:r>
              <a:rPr sz="1875" b="1">
                <a:solidFill>
                  <a:srgbClr val="E5F1EC"/>
                </a:solidFill>
                <a:latin typeface="Arial"/>
                <a:ea typeface="Arial"/>
                <a:cs typeface="Arial"/>
              </a:rPr>
              <a:t>OSM + hazard sources</a:t>
            </a:r>
          </a:p>
        </p:txBody>
      </p:sp>
      <p:sp>
        <p:nvSpPr>
          <p:cNvPr id="3" name="">
            <a:extLst xmlns:a="http://schemas.openxmlformats.org/drawingml/2006/main">
              <a:ext uri="{FF2B5EF4-FFF2-40B4-BE49-F238E27FC236}">
                <a16:creationId xmlns:a16="http://schemas.microsoft.com/office/drawing/2014/main" id="{5B05A2CB-AA51-4EC9-A123-972DFDE70CF8}"/>
              </a:ext>
            </a:extLst>
          </p:cNvPr>
          <p:cNvSpPr>
            <a:spLocks xmlns:a="http://schemas.openxmlformats.org/drawingml/2006/main" noGrp="1"/>
          </p:cNvSpPr>
          <p:nvPr/>
        </p:nvSpPr>
        <p:spPr>
          <a:xfrm xmlns:a="http://schemas.openxmlformats.org/drawingml/2006/main">
            <a:off x="4667250" y="1714500"/>
            <a:ext cx="2857500" cy="895350"/>
          </a:xfrm>
          <a:prstGeom xmlns:a="http://schemas.openxmlformats.org/drawingml/2006/main" prst="rect">
            <a:avLst/>
          </a:prstGeom>
          <a:solidFill xmlns:a="http://schemas.openxmlformats.org/drawingml/2006/main">
            <a:srgbClr val="1B302E"/>
          </a:solidFill>
          <a:ln xmlns:a="http://schemas.openxmlformats.org/drawingml/2006/main" w="13335">
            <a:solidFill>
              <a:srgbClr val="739C8D"/>
            </a:solidFill>
          </a:ln>
        </p:spPr>
        <p:txBody>
          <a:bodyPr xmlns:a="http://schemas.openxmlformats.org/drawingml/2006/main">
            <a:noAutofit/>
          </a:bodyPr>
          <a:lstStyle xmlns:a="http://schemas.openxmlformats.org/drawingml/2006/main"/>
          <a:p xmlns:a="http://schemas.openxmlformats.org/drawingml/2006/main">
            <a:pPr>
              <a:defRPr sz="1875" b="1">
                <a:solidFill>
                  <a:srgbClr val="E5F1EC"/>
                </a:solidFill>
                <a:latin typeface="Arial"/>
                <a:ea typeface="Arial"/>
                <a:cs typeface="Arial"/>
              </a:defRPr>
            </a:pPr>
            <a:r>
              <a:rPr sz="1875" b="1">
                <a:solidFill>
                  <a:srgbClr val="E5F1EC"/>
                </a:solidFill>
                <a:latin typeface="Arial"/>
                <a:ea typeface="Arial"/>
                <a:cs typeface="Arial"/>
              </a:rPr>
              <a:t>OSMnx graph</a:t>
            </a:r>
          </a:p>
        </p:txBody>
      </p:sp>
      <p:sp>
        <p:nvSpPr>
          <p:cNvPr id="4" name="">
            <a:extLst xmlns:a="http://schemas.openxmlformats.org/drawingml/2006/main">
              <a:ext uri="{FF2B5EF4-FFF2-40B4-BE49-F238E27FC236}">
                <a16:creationId xmlns:a16="http://schemas.microsoft.com/office/drawing/2014/main" id="{817030E6-685B-4518-820A-97EB32B29CA3}"/>
              </a:ext>
            </a:extLst>
          </p:cNvPr>
          <p:cNvSpPr>
            <a:spLocks xmlns:a="http://schemas.openxmlformats.org/drawingml/2006/main" noGrp="1"/>
          </p:cNvSpPr>
          <p:nvPr/>
        </p:nvSpPr>
        <p:spPr>
          <a:xfrm xmlns:a="http://schemas.openxmlformats.org/drawingml/2006/main">
            <a:off x="8724900" y="1714500"/>
            <a:ext cx="2857500" cy="895350"/>
          </a:xfrm>
          <a:prstGeom xmlns:a="http://schemas.openxmlformats.org/drawingml/2006/main" prst="rect">
            <a:avLst/>
          </a:prstGeom>
          <a:solidFill xmlns:a="http://schemas.openxmlformats.org/drawingml/2006/main">
            <a:srgbClr val="1B302E"/>
          </a:solidFill>
          <a:ln xmlns:a="http://schemas.openxmlformats.org/drawingml/2006/main" w="13335">
            <a:solidFill>
              <a:srgbClr val="739C8D"/>
            </a:solidFill>
          </a:ln>
        </p:spPr>
        <p:txBody>
          <a:bodyPr xmlns:a="http://schemas.openxmlformats.org/drawingml/2006/main">
            <a:noAutofit/>
          </a:bodyPr>
          <a:lstStyle xmlns:a="http://schemas.openxmlformats.org/drawingml/2006/main"/>
          <a:p xmlns:a="http://schemas.openxmlformats.org/drawingml/2006/main">
            <a:pPr>
              <a:defRPr sz="1875" b="1">
                <a:solidFill>
                  <a:srgbClr val="E5F1EC"/>
                </a:solidFill>
                <a:latin typeface="Arial"/>
                <a:ea typeface="Arial"/>
                <a:cs typeface="Arial"/>
              </a:defRPr>
            </a:pPr>
            <a:r>
              <a:rPr sz="1875" b="1">
                <a:solidFill>
                  <a:srgbClr val="E5F1EC"/>
                </a:solidFill>
                <a:latin typeface="Arial"/>
                <a:ea typeface="Arial"/>
                <a:cs typeface="Arial"/>
              </a:rPr>
              <a:t>Supabase / PostGIS</a:t>
            </a:r>
          </a:p>
        </p:txBody>
      </p:sp>
      <p:sp>
        <p:nvSpPr>
          <p:cNvPr id="5" name="">
            <a:extLst xmlns:a="http://schemas.openxmlformats.org/drawingml/2006/main">
              <a:ext uri="{FF2B5EF4-FFF2-40B4-BE49-F238E27FC236}">
                <a16:creationId xmlns:a16="http://schemas.microsoft.com/office/drawing/2014/main" id="{FB81F252-D20F-4B6C-91CC-16AF9E870EBA}"/>
              </a:ext>
            </a:extLst>
          </p:cNvPr>
          <p:cNvSpPr>
            <a:spLocks xmlns:a="http://schemas.openxmlformats.org/drawingml/2006/main" noGrp="1"/>
          </p:cNvSpPr>
          <p:nvPr/>
        </p:nvSpPr>
        <p:spPr>
          <a:xfrm xmlns:a="http://schemas.openxmlformats.org/drawingml/2006/main">
            <a:off x="8724900" y="3476625"/>
            <a:ext cx="2857500" cy="895350"/>
          </a:xfrm>
          <a:prstGeom xmlns:a="http://schemas.openxmlformats.org/drawingml/2006/main" prst="rect">
            <a:avLst/>
          </a:prstGeom>
          <a:solidFill xmlns:a="http://schemas.openxmlformats.org/drawingml/2006/main">
            <a:srgbClr val="1B302E"/>
          </a:solidFill>
          <a:ln xmlns:a="http://schemas.openxmlformats.org/drawingml/2006/main" w="13335">
            <a:solidFill>
              <a:srgbClr val="739C8D"/>
            </a:solidFill>
          </a:ln>
        </p:spPr>
        <p:txBody>
          <a:bodyPr xmlns:a="http://schemas.openxmlformats.org/drawingml/2006/main">
            <a:noAutofit/>
          </a:bodyPr>
          <a:lstStyle xmlns:a="http://schemas.openxmlformats.org/drawingml/2006/main"/>
          <a:p xmlns:a="http://schemas.openxmlformats.org/drawingml/2006/main">
            <a:pPr>
              <a:defRPr sz="1875" b="1">
                <a:solidFill>
                  <a:srgbClr val="E5F1EC"/>
                </a:solidFill>
                <a:latin typeface="Arial"/>
                <a:ea typeface="Arial"/>
                <a:cs typeface="Arial"/>
              </a:defRPr>
            </a:pPr>
            <a:r>
              <a:rPr sz="1875" b="1">
                <a:solidFill>
                  <a:srgbClr val="E5F1EC"/>
                </a:solidFill>
                <a:latin typeface="Arial"/>
                <a:ea typeface="Arial"/>
                <a:cs typeface="Arial"/>
              </a:rPr>
              <a:t>Versioned graph</a:t>
            </a:r>
          </a:p>
        </p:txBody>
      </p:sp>
      <p:sp>
        <p:nvSpPr>
          <p:cNvPr id="6" name="">
            <a:extLst xmlns:a="http://schemas.openxmlformats.org/drawingml/2006/main">
              <a:ext uri="{FF2B5EF4-FFF2-40B4-BE49-F238E27FC236}">
                <a16:creationId xmlns:a16="http://schemas.microsoft.com/office/drawing/2014/main" id="{CDD511B9-E2B2-4D72-854A-1E1D780C24B5}"/>
              </a:ext>
            </a:extLst>
          </p:cNvPr>
          <p:cNvSpPr>
            <a:spLocks xmlns:a="http://schemas.openxmlformats.org/drawingml/2006/main" noGrp="1"/>
          </p:cNvSpPr>
          <p:nvPr/>
        </p:nvSpPr>
        <p:spPr>
          <a:xfrm xmlns:a="http://schemas.openxmlformats.org/drawingml/2006/main">
            <a:off x="4667250" y="3476625"/>
            <a:ext cx="2857500" cy="895350"/>
          </a:xfrm>
          <a:prstGeom xmlns:a="http://schemas.openxmlformats.org/drawingml/2006/main" prst="rect">
            <a:avLst/>
          </a:prstGeom>
          <a:solidFill xmlns:a="http://schemas.openxmlformats.org/drawingml/2006/main">
            <a:srgbClr val="1B302E"/>
          </a:solidFill>
          <a:ln xmlns:a="http://schemas.openxmlformats.org/drawingml/2006/main" w="13335">
            <a:solidFill>
              <a:srgbClr val="739C8D"/>
            </a:solidFill>
          </a:ln>
        </p:spPr>
        <p:txBody>
          <a:bodyPr xmlns:a="http://schemas.openxmlformats.org/drawingml/2006/main">
            <a:noAutofit/>
          </a:bodyPr>
          <a:lstStyle xmlns:a="http://schemas.openxmlformats.org/drawingml/2006/main"/>
          <a:p xmlns:a="http://schemas.openxmlformats.org/drawingml/2006/main">
            <a:pPr>
              <a:defRPr sz="1875" b="1">
                <a:solidFill>
                  <a:srgbClr val="E5F1EC"/>
                </a:solidFill>
                <a:latin typeface="Arial"/>
                <a:ea typeface="Arial"/>
                <a:cs typeface="Arial"/>
              </a:defRPr>
            </a:pPr>
            <a:r>
              <a:rPr sz="1875" b="1">
                <a:solidFill>
                  <a:srgbClr val="E5F1EC"/>
                </a:solidFill>
                <a:latin typeface="Arial"/>
                <a:ea typeface="Arial"/>
                <a:cs typeface="Arial"/>
              </a:rPr>
              <a:t>Custom A*</a:t>
            </a:r>
          </a:p>
        </p:txBody>
      </p:sp>
      <p:sp>
        <p:nvSpPr>
          <p:cNvPr id="7" name="">
            <a:extLst xmlns:a="http://schemas.openxmlformats.org/drawingml/2006/main">
              <a:ext uri="{FF2B5EF4-FFF2-40B4-BE49-F238E27FC236}">
                <a16:creationId xmlns:a16="http://schemas.microsoft.com/office/drawing/2014/main" id="{BC3BB5AB-759B-4078-B357-E8E9CE5BA749}"/>
              </a:ext>
            </a:extLst>
          </p:cNvPr>
          <p:cNvSpPr>
            <a:spLocks xmlns:a="http://schemas.openxmlformats.org/drawingml/2006/main" noGrp="1"/>
          </p:cNvSpPr>
          <p:nvPr/>
        </p:nvSpPr>
        <p:spPr>
          <a:xfrm xmlns:a="http://schemas.openxmlformats.org/drawingml/2006/main">
            <a:off x="609600" y="3476625"/>
            <a:ext cx="2857500" cy="895350"/>
          </a:xfrm>
          <a:prstGeom xmlns:a="http://schemas.openxmlformats.org/drawingml/2006/main" prst="rect">
            <a:avLst/>
          </a:prstGeom>
          <a:solidFill xmlns:a="http://schemas.openxmlformats.org/drawingml/2006/main">
            <a:srgbClr val="1B302E"/>
          </a:solidFill>
          <a:ln xmlns:a="http://schemas.openxmlformats.org/drawingml/2006/main" w="13335">
            <a:solidFill>
              <a:srgbClr val="739C8D"/>
            </a:solidFill>
          </a:ln>
        </p:spPr>
        <p:txBody>
          <a:bodyPr xmlns:a="http://schemas.openxmlformats.org/drawingml/2006/main">
            <a:noAutofit/>
          </a:bodyPr>
          <a:lstStyle xmlns:a="http://schemas.openxmlformats.org/drawingml/2006/main"/>
          <a:p xmlns:a="http://schemas.openxmlformats.org/drawingml/2006/main">
            <a:pPr>
              <a:defRPr sz="1875" b="1">
                <a:solidFill>
                  <a:srgbClr val="E5F1EC"/>
                </a:solidFill>
                <a:latin typeface="Arial"/>
                <a:ea typeface="Arial"/>
                <a:cs typeface="Arial"/>
              </a:defRPr>
            </a:pPr>
            <a:r>
              <a:rPr sz="1875" b="1">
                <a:solidFill>
                  <a:srgbClr val="E5F1EC"/>
                </a:solidFill>
                <a:latin typeface="Arial"/>
                <a:ea typeface="Arial"/>
                <a:cs typeface="Arial"/>
              </a:rPr>
              <a:t>FastAPI</a:t>
            </a:r>
          </a:p>
        </p:txBody>
      </p:sp>
      <p:sp>
        <p:nvSpPr>
          <p:cNvPr id="8" name="">
            <a:extLst xmlns:a="http://schemas.openxmlformats.org/drawingml/2006/main">
              <a:ext uri="{FF2B5EF4-FFF2-40B4-BE49-F238E27FC236}">
                <a16:creationId xmlns:a16="http://schemas.microsoft.com/office/drawing/2014/main" id="{0C4D119D-D6E5-4DDA-A2BA-6E3DFC433C2B}"/>
              </a:ext>
            </a:extLst>
          </p:cNvPr>
          <p:cNvSpPr>
            <a:spLocks xmlns:a="http://schemas.openxmlformats.org/drawingml/2006/main" noGrp="1"/>
          </p:cNvSpPr>
          <p:nvPr/>
        </p:nvSpPr>
        <p:spPr>
          <a:xfrm xmlns:a="http://schemas.openxmlformats.org/drawingml/2006/main">
            <a:off x="609600" y="5238750"/>
            <a:ext cx="2857500" cy="895350"/>
          </a:xfrm>
          <a:prstGeom xmlns:a="http://schemas.openxmlformats.org/drawingml/2006/main" prst="rect">
            <a:avLst/>
          </a:prstGeom>
          <a:solidFill xmlns:a="http://schemas.openxmlformats.org/drawingml/2006/main">
            <a:srgbClr val="1B302E"/>
          </a:solidFill>
          <a:ln xmlns:a="http://schemas.openxmlformats.org/drawingml/2006/main" w="13335">
            <a:solidFill>
              <a:srgbClr val="739C8D"/>
            </a:solidFill>
          </a:ln>
        </p:spPr>
        <p:txBody>
          <a:bodyPr xmlns:a="http://schemas.openxmlformats.org/drawingml/2006/main">
            <a:noAutofit/>
          </a:bodyPr>
          <a:lstStyle xmlns:a="http://schemas.openxmlformats.org/drawingml/2006/main"/>
          <a:p xmlns:a="http://schemas.openxmlformats.org/drawingml/2006/main">
            <a:pPr>
              <a:defRPr sz="1875" b="1">
                <a:solidFill>
                  <a:srgbClr val="E5F1EC"/>
                </a:solidFill>
                <a:latin typeface="Arial"/>
                <a:ea typeface="Arial"/>
                <a:cs typeface="Arial"/>
              </a:defRPr>
            </a:pPr>
            <a:r>
              <a:rPr sz="1875" b="1">
                <a:solidFill>
                  <a:srgbClr val="E5F1EC"/>
                </a:solidFill>
                <a:latin typeface="Arial"/>
                <a:ea typeface="Arial"/>
                <a:cs typeface="Arial"/>
              </a:rPr>
              <a:t>React + TypeScript + R3F</a:t>
            </a:r>
          </a:p>
        </p:txBody>
      </p:sp>
      <p:cxnSp>
        <p:nvCxnSpPr>
          <p:cNvPr id="24" name=""/>
          <p:cNvCxnSpPr>
            <a:stCxn xmlns:a="http://schemas.openxmlformats.org/drawingml/2006/main" id="3" idx="1"/>
            <a:endCxn xmlns:a="http://schemas.openxmlformats.org/drawingml/2006/main" id="2" idx="3"/>
          </p:cNvCxnSpPr>
          <p:nvPr/>
        </p:nvCxnSpPr>
        <p:spPr>
          <a:xfrm xmlns:a="http://schemas.openxmlformats.org/drawingml/2006/main" flipH="1">
            <a:off x="3467100" y="2162175"/>
            <a:ext cx="1200150" cy="0"/>
          </a:xfrm>
          <a:prstGeom xmlns:a="http://schemas.openxmlformats.org/drawingml/2006/main" prst="straightConnector1">
            <a:avLst/>
          </a:prstGeom>
          <a:ln xmlns:a="http://schemas.openxmlformats.org/drawingml/2006/main" w="19050">
            <a:solidFill>
              <a:srgbClr val="8AF4CB"/>
            </a:solidFill>
            <a:headEnd type="arrow" w="med" len="med"/>
          </a:ln>
        </p:spPr>
      </p:cxnSp>
      <p:cxnSp>
        <p:nvCxnSpPr>
          <p:cNvPr id="25" name=""/>
          <p:cNvCxnSpPr>
            <a:stCxn xmlns:a="http://schemas.openxmlformats.org/drawingml/2006/main" id="4" idx="1"/>
            <a:endCxn xmlns:a="http://schemas.openxmlformats.org/drawingml/2006/main" id="3" idx="3"/>
          </p:cNvCxnSpPr>
          <p:nvPr/>
        </p:nvCxnSpPr>
        <p:spPr>
          <a:xfrm xmlns:a="http://schemas.openxmlformats.org/drawingml/2006/main" flipH="1">
            <a:off x="7524750" y="2162175"/>
            <a:ext cx="1200150" cy="0"/>
          </a:xfrm>
          <a:prstGeom xmlns:a="http://schemas.openxmlformats.org/drawingml/2006/main" prst="straightConnector1">
            <a:avLst/>
          </a:prstGeom>
          <a:ln xmlns:a="http://schemas.openxmlformats.org/drawingml/2006/main" w="19050">
            <a:solidFill>
              <a:srgbClr val="8AF4CB"/>
            </a:solidFill>
            <a:headEnd type="arrow" w="med" len="med"/>
          </a:ln>
        </p:spPr>
      </p:cxnSp>
      <p:cxnSp>
        <p:nvCxnSpPr>
          <p:cNvPr id="26" name=""/>
          <p:cNvCxnSpPr>
            <a:stCxn xmlns:a="http://schemas.openxmlformats.org/drawingml/2006/main" id="5" idx="0"/>
            <a:endCxn xmlns:a="http://schemas.openxmlformats.org/drawingml/2006/main" id="4" idx="2"/>
          </p:cNvCxnSpPr>
          <p:nvPr/>
        </p:nvCxnSpPr>
        <p:spPr>
          <a:xfrm xmlns:a="http://schemas.openxmlformats.org/drawingml/2006/main" flipV="1">
            <a:off x="10153650" y="2609850"/>
            <a:ext cx="0" cy="866775"/>
          </a:xfrm>
          <a:prstGeom xmlns:a="http://schemas.openxmlformats.org/drawingml/2006/main" prst="straightConnector1">
            <a:avLst/>
          </a:prstGeom>
          <a:ln xmlns:a="http://schemas.openxmlformats.org/drawingml/2006/main" w="19050">
            <a:solidFill>
              <a:srgbClr val="8AF4CB"/>
            </a:solidFill>
            <a:headEnd type="arrow" w="med" len="med"/>
          </a:ln>
        </p:spPr>
      </p:cxnSp>
      <p:cxnSp>
        <p:nvCxnSpPr>
          <p:cNvPr id="27" name=""/>
          <p:cNvCxnSpPr>
            <a:stCxn xmlns:a="http://schemas.openxmlformats.org/drawingml/2006/main" id="6" idx="3"/>
            <a:endCxn xmlns:a="http://schemas.openxmlformats.org/drawingml/2006/main" id="5" idx="1"/>
          </p:cNvCxnSpPr>
          <p:nvPr/>
        </p:nvCxnSpPr>
        <p:spPr>
          <a:xfrm xmlns:a="http://schemas.openxmlformats.org/drawingml/2006/main">
            <a:off x="7524750" y="3924300"/>
            <a:ext cx="1200150" cy="0"/>
          </a:xfrm>
          <a:prstGeom xmlns:a="http://schemas.openxmlformats.org/drawingml/2006/main" prst="straightConnector1">
            <a:avLst/>
          </a:prstGeom>
          <a:ln xmlns:a="http://schemas.openxmlformats.org/drawingml/2006/main" w="19050">
            <a:solidFill>
              <a:srgbClr val="8AF4CB"/>
            </a:solidFill>
            <a:headEnd type="arrow" w="med" len="med"/>
          </a:ln>
        </p:spPr>
      </p:cxnSp>
      <p:cxnSp>
        <p:nvCxnSpPr>
          <p:cNvPr id="28" name=""/>
          <p:cNvCxnSpPr>
            <a:stCxn xmlns:a="http://schemas.openxmlformats.org/drawingml/2006/main" id="7" idx="3"/>
            <a:endCxn xmlns:a="http://schemas.openxmlformats.org/drawingml/2006/main" id="6" idx="1"/>
          </p:cNvCxnSpPr>
          <p:nvPr/>
        </p:nvCxnSpPr>
        <p:spPr>
          <a:xfrm xmlns:a="http://schemas.openxmlformats.org/drawingml/2006/main">
            <a:off x="3467100" y="3924300"/>
            <a:ext cx="1200150" cy="0"/>
          </a:xfrm>
          <a:prstGeom xmlns:a="http://schemas.openxmlformats.org/drawingml/2006/main" prst="straightConnector1">
            <a:avLst/>
          </a:prstGeom>
          <a:ln xmlns:a="http://schemas.openxmlformats.org/drawingml/2006/main" w="19050">
            <a:solidFill>
              <a:srgbClr val="8AF4CB"/>
            </a:solidFill>
            <a:headEnd type="arrow" w="med" len="med"/>
          </a:ln>
        </p:spPr>
      </p:cxnSp>
      <p:cxnSp>
        <p:nvCxnSpPr>
          <p:cNvPr id="29" name=""/>
          <p:cNvCxnSpPr>
            <a:stCxn xmlns:a="http://schemas.openxmlformats.org/drawingml/2006/main" id="8" idx="0"/>
            <a:endCxn xmlns:a="http://schemas.openxmlformats.org/drawingml/2006/main" id="7" idx="2"/>
          </p:cNvCxnSpPr>
          <p:nvPr/>
        </p:nvCxnSpPr>
        <p:spPr>
          <a:xfrm xmlns:a="http://schemas.openxmlformats.org/drawingml/2006/main" flipV="1">
            <a:off x="2038350" y="4371975"/>
            <a:ext cx="0" cy="866775"/>
          </a:xfrm>
          <a:prstGeom xmlns:a="http://schemas.openxmlformats.org/drawingml/2006/main" prst="straightConnector1">
            <a:avLst/>
          </a:prstGeom>
          <a:ln xmlns:a="http://schemas.openxmlformats.org/drawingml/2006/main" w="19050">
            <a:solidFill>
              <a:srgbClr val="8AF4CB"/>
            </a:solidFill>
            <a:headEnd type="arrow" w="med" len="med"/>
          </a:ln>
        </p:spPr>
      </p:cxnSp>
      <p:sp>
        <p:nvSpPr>
          <p:cNvPr id="15" name="">
            <a:extLst xmlns:a="http://schemas.openxmlformats.org/drawingml/2006/main">
              <a:ext uri="{FF2B5EF4-FFF2-40B4-BE49-F238E27FC236}">
                <a16:creationId xmlns:a16="http://schemas.microsoft.com/office/drawing/2014/main" id="{1450B135-9F08-4584-977F-9FB74FC20465}"/>
              </a:ext>
            </a:extLst>
          </p:cNvPr>
          <p:cNvSpPr>
            <a:spLocks xmlns:a="http://schemas.openxmlformats.org/drawingml/2006/main" noGrp="1"/>
          </p:cNvSpPr>
          <p:nvPr/>
        </p:nvSpPr>
        <p:spPr>
          <a:xfrm xmlns:a="http://schemas.openxmlformats.org/drawingml/2006/main">
            <a:off x="4667250" y="5448300"/>
            <a:ext cx="6810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BCBA"/>
                </a:solidFill>
                <a:latin typeface="Arial"/>
                <a:ea typeface="Arial"/>
                <a:cs typeface="Arial"/>
              </a:defRPr>
            </a:pPr>
            <a:r>
              <a:rPr sz="1875" b="0">
                <a:solidFill>
                  <a:srgbClr val="A6BCBA"/>
                </a:solidFill>
                <a:latin typeface="Arial"/>
                <a:ea typeface="Arial"/>
                <a:cs typeface="Arial"/>
              </a:rPr>
              <a:t>Docker containers and Kubernetes on cloud VMs</a:t>
            </a:r>
          </a:p>
        </p:txBody>
      </p:sp>
    </p:spTree>
    <p:extLst>
      <p:ext uri="{BB962C8B-B14F-4D97-AF65-F5344CB8AC3E}">
        <p14:creationId xmlns:p14="http://schemas.microsoft.com/office/powerpoint/2010/main" val="860081582"/>
      </p:ext>
    </p:extLst>
  </p:cSld>
</p:sld>
</file>

<file path=ppt/slides/slide5.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150B02-544F-40B2-BEC4-9C946B4DD024}"/>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Risk-aware A*</a:t>
            </a:r>
          </a:p>
        </p:txBody>
      </p:sp>
      <p:sp>
        <p:nvSpPr>
          <p:cNvPr id="2" name="">
            <a:extLst xmlns:a="http://schemas.openxmlformats.org/drawingml/2006/main">
              <a:ext uri="{FF2B5EF4-FFF2-40B4-BE49-F238E27FC236}">
                <a16:creationId xmlns:a16="http://schemas.microsoft.com/office/drawing/2014/main" id="{D46CA95C-6C83-49AF-A03A-055D5D6C273C}"/>
              </a:ext>
            </a:extLst>
          </p:cNvPr>
          <p:cNvSpPr>
            <a:spLocks xmlns:a="http://schemas.openxmlformats.org/drawingml/2006/main" noGrp="1"/>
          </p:cNvSpPr>
          <p:nvPr/>
        </p:nvSpPr>
        <p:spPr>
          <a:xfrm xmlns:a="http://schemas.openxmlformats.org/drawingml/2006/main">
            <a:off x="609600" y="1628775"/>
            <a:ext cx="10763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8AF4CB"/>
                </a:solidFill>
                <a:latin typeface="Arial"/>
                <a:ea typeface="Arial"/>
                <a:cs typeface="Arial"/>
              </a:defRPr>
            </a:pPr>
            <a:r>
              <a:rPr sz="3825" b="1">
                <a:solidFill>
                  <a:srgbClr val="8AF4CB"/>
                </a:solidFill>
                <a:latin typeface="Arial"/>
                <a:ea typeface="Arial"/>
                <a:cs typeface="Arial"/>
              </a:rPr>
              <a:t>c(e) = t(e) × [1 + 4λr(e)]</a:t>
            </a:r>
          </a:p>
        </p:txBody>
      </p:sp>
      <p:sp>
        <p:nvSpPr>
          <p:cNvPr id="3" name="">
            <a:extLst xmlns:a="http://schemas.openxmlformats.org/drawingml/2006/main">
              <a:ext uri="{FF2B5EF4-FFF2-40B4-BE49-F238E27FC236}">
                <a16:creationId xmlns:a16="http://schemas.microsoft.com/office/drawing/2014/main" id="{7B0D02A6-79B6-4F3E-BF56-8D7E4DD8A9E8}"/>
              </a:ext>
            </a:extLst>
          </p:cNvPr>
          <p:cNvSpPr>
            <a:spLocks xmlns:a="http://schemas.openxmlformats.org/drawingml/2006/main" noGrp="1"/>
          </p:cNvSpPr>
          <p:nvPr/>
        </p:nvSpPr>
        <p:spPr>
          <a:xfrm xmlns:a="http://schemas.openxmlformats.org/drawingml/2006/main">
            <a:off x="609600" y="2886075"/>
            <a:ext cx="10953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E5F1EC"/>
                </a:solidFill>
                <a:latin typeface="Arial"/>
                <a:ea typeface="Arial"/>
                <a:cs typeface="Arial"/>
              </a:defRPr>
            </a:pPr>
            <a:r>
              <a:rPr sz="2100" b="0">
                <a:solidFill>
                  <a:srgbClr val="E5F1EC"/>
                </a:solidFill>
                <a:latin typeface="Arial"/>
                <a:ea typeface="Arial"/>
                <a:cs typeface="Arial"/>
              </a:rPr>
              <a:t>t(e) is estimated vehicle travel time.</a:t>
            </a:r>
          </a:p>
          <a:p xmlns:a="http://schemas.openxmlformats.org/drawingml/2006/main">
            <a:pPr>
              <a:defRPr sz="2100" b="0">
                <a:solidFill>
                  <a:srgbClr val="E5F1EC"/>
                </a:solidFill>
                <a:latin typeface="Arial"/>
                <a:ea typeface="Arial"/>
                <a:cs typeface="Arial"/>
              </a:defRPr>
            </a:pPr>
            <a:r>
              <a:rPr sz="2100" b="0">
                <a:solidFill>
                  <a:srgbClr val="E5F1EC"/>
                </a:solidFill>
                <a:latin typeface="Arial"/>
                <a:ea typeface="Arial"/>
                <a:cs typeface="Arial"/>
              </a:rPr>
              <a:t>r(e) combines accident, road-condition and weather scores.</a:t>
            </a:r>
          </a:p>
          <a:p xmlns:a="http://schemas.openxmlformats.org/drawingml/2006/main">
            <a:pPr>
              <a:defRPr sz="2100" b="0">
                <a:solidFill>
                  <a:srgbClr val="E5F1EC"/>
                </a:solidFill>
                <a:latin typeface="Arial"/>
                <a:ea typeface="Arial"/>
                <a:cs typeface="Arial"/>
              </a:defRPr>
            </a:pPr>
            <a:r>
              <a:rPr sz="2100" b="0">
                <a:solidFill>
                  <a:srgbClr val="E5F1EC"/>
                </a:solidFill>
                <a:latin typeface="Arial"/>
                <a:ea typeface="Arial"/>
                <a:cs typeface="Arial"/>
              </a:rPr>
              <a:t>λ controls the preference for lower modelled risk.</a:t>
            </a:r>
          </a:p>
        </p:txBody>
      </p:sp>
      <p:sp>
        <p:nvSpPr>
          <p:cNvPr id="4" name="">
            <a:extLst xmlns:a="http://schemas.openxmlformats.org/drawingml/2006/main">
              <a:ext uri="{FF2B5EF4-FFF2-40B4-BE49-F238E27FC236}">
                <a16:creationId xmlns:a16="http://schemas.microsoft.com/office/drawing/2014/main" id="{CE0BA947-BB4F-4A31-9364-4BCBC14DBFCC}"/>
              </a:ext>
            </a:extLst>
          </p:cNvPr>
          <p:cNvSpPr>
            <a:spLocks xmlns:a="http://schemas.openxmlformats.org/drawingml/2006/main" noGrp="1"/>
          </p:cNvSpPr>
          <p:nvPr/>
        </p:nvSpPr>
        <p:spPr>
          <a:xfrm xmlns:a="http://schemas.openxmlformats.org/drawingml/2006/main">
            <a:off x="609600" y="5019675"/>
            <a:ext cx="10810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BCBA"/>
                </a:solidFill>
                <a:latin typeface="Arial"/>
                <a:ea typeface="Arial"/>
                <a:cs typeface="Arial"/>
              </a:defRPr>
            </a:pPr>
            <a:r>
              <a:rPr sz="1875" b="0">
                <a:solidFill>
                  <a:srgbClr val="A6BCBA"/>
                </a:solidFill>
                <a:latin typeface="Arial"/>
                <a:ea typeface="Arial"/>
                <a:cs typeface="Arial"/>
              </a:rPr>
              <a:t>Known closures and incompatible vehicle limits exclude roads.</a:t>
            </a:r>
          </a:p>
          <a:p xmlns:a="http://schemas.openxmlformats.org/drawingml/2006/main">
            <a:pPr>
              <a:defRPr sz="1875" b="0">
                <a:solidFill>
                  <a:srgbClr val="A6BCBA"/>
                </a:solidFill>
                <a:latin typeface="Arial"/>
                <a:ea typeface="Arial"/>
                <a:cs typeface="Arial"/>
              </a:defRPr>
            </a:pPr>
            <a:r>
              <a:rPr sz="1875" b="0">
                <a:solidFill>
                  <a:srgbClr val="A6BCBA"/>
                </a:solidFill>
                <a:latin typeface="Arial"/>
                <a:ea typeface="Arial"/>
                <a:cs typeface="Arial"/>
              </a:rPr>
              <a:t>A* searches the remaining graph with an admissible heuristic.</a:t>
            </a:r>
          </a:p>
        </p:txBody>
      </p:sp>
    </p:spTree>
    <p:extLst>
      <p:ext uri="{BB962C8B-B14F-4D97-AF65-F5344CB8AC3E}">
        <p14:creationId xmlns:p14="http://schemas.microsoft.com/office/powerpoint/2010/main" val="993270687"/>
      </p:ext>
    </p:extLst>
  </p:cSld>
</p:sld>
</file>

<file path=ppt/slides/slide6.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5D75785-D37C-4FB0-92E3-A1FA53F165C5}"/>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Public data foundation</a:t>
            </a:r>
          </a:p>
        </p:txBody>
      </p:sp>
      <p:graphicFrame>
        <p:nvGraphicFramePr>
          <p:cNvPr id="5" name=""/>
          <p:cNvGraphicFramePr/>
          <p:nvPr/>
        </p:nvGraphicFramePr>
        <p:xfrm>
          <a:off xmlns:a="http://schemas.openxmlformats.org/drawingml/2006/main" x="609600" y="1581150"/>
          <a:ext xmlns:a="http://schemas.openxmlformats.org/drawingml/2006/main" cx="10972800" cy="4038600"/>
        </p:xfrm>
        <a:graphic xmlns:a="http://schemas.openxmlformats.org/drawingml/2006/main">
          <a:graphicData uri="http://schemas.openxmlformats.org/drawingml/2006/table">
            <a:tbl>
              <a:tblPr/>
              <a:tblGrid>
                <a:gridCol w="2333625"/>
                <a:gridCol w="3619500"/>
                <a:gridCol w="5019675"/>
              </a:tblGrid>
              <a:tr h="673100">
                <a:tc>
                  <a:txBody>
                    <a:bodyPr/>
                    <a:lstStyle/>
                    <a:p>
                      <a:r>
                        <a:rPr sz="1725" b="1">
                          <a:solidFill>
                            <a:srgbClr val="8AF4CB"/>
                          </a:solidFill>
                          <a:latin typeface="Arial"/>
                          <a:ea typeface="Arial"/>
                          <a:cs typeface="Arial"/>
                        </a:rPr>
                        <a:t>Layer</a:t>
                      </a:r>
                    </a:p>
                  </a:txBody>
                  <a:tcPr marL="152400" marR="152400" marT="114300" marB="114300">
                    <a:solidFill>
                      <a:srgbClr val="203830"/>
                    </a:solidFill>
                  </a:tcPr>
                </a:tc>
                <a:tc>
                  <a:txBody>
                    <a:bodyPr/>
                    <a:lstStyle/>
                    <a:p>
                      <a:r>
                        <a:rPr sz="1725" b="1">
                          <a:solidFill>
                            <a:srgbClr val="8AF4CB"/>
                          </a:solidFill>
                          <a:latin typeface="Arial"/>
                          <a:ea typeface="Arial"/>
                          <a:cs typeface="Arial"/>
                        </a:rPr>
                        <a:t>Acquired or prepared</a:t>
                      </a:r>
                    </a:p>
                  </a:txBody>
                  <a:tcPr marL="152400" marR="152400" marT="114300" marB="114300">
                    <a:solidFill>
                      <a:srgbClr val="203830"/>
                    </a:solidFill>
                  </a:tcPr>
                </a:tc>
                <a:tc>
                  <a:txBody>
                    <a:bodyPr/>
                    <a:lstStyle/>
                    <a:p>
                      <a:r>
                        <a:rPr sz="1725" b="1">
                          <a:solidFill>
                            <a:srgbClr val="8AF4CB"/>
                          </a:solidFill>
                          <a:latin typeface="Arial"/>
                          <a:ea typeface="Arial"/>
                          <a:cs typeface="Arial"/>
                        </a:rPr>
                        <a:t>Interpretation</a:t>
                      </a:r>
                    </a:p>
                  </a:txBody>
                  <a:tcPr marL="152400" marR="152400" marT="114300" marB="114300">
                    <a:solidFill>
                      <a:srgbClr val="203830"/>
                    </a:solidFill>
                  </a:tcPr>
                </a:tc>
              </a:tr>
              <a:tr h="673100">
                <a:tc>
                  <a:txBody>
                    <a:bodyPr/>
                    <a:lstStyle/>
                    <a:p>
                      <a:r>
                        <a:rPr sz="1725">
                          <a:solidFill>
                            <a:srgbClr val="E5F1EC"/>
                          </a:solidFill>
                          <a:latin typeface="Arial"/>
                          <a:ea typeface="Arial"/>
                          <a:cs typeface="Arial"/>
                        </a:rPr>
                        <a:t>Roads</a:t>
                      </a:r>
                    </a:p>
                  </a:txBody>
                  <a:tcPr marL="152400" marR="152400" marT="114300" marB="114300">
                    <a:solidFill>
                      <a:srgbClr val="0C171D"/>
                    </a:solidFill>
                  </a:tcPr>
                </a:tc>
                <a:tc>
                  <a:txBody>
                    <a:bodyPr/>
                    <a:lstStyle/>
                    <a:p>
                      <a:r>
                        <a:rPr sz="1725">
                          <a:solidFill>
                            <a:srgbClr val="E5F1EC"/>
                          </a:solidFill>
                          <a:latin typeface="Arial"/>
                          <a:ea typeface="Arial"/>
                          <a:cs typeface="Arial"/>
                        </a:rPr>
                        <a:t>8-state OSM coverage</a:t>
                      </a:r>
                    </a:p>
                  </a:txBody>
                  <a:tcPr marL="152400" marR="152400" marT="114300" marB="114300">
                    <a:solidFill>
                      <a:srgbClr val="0C171D"/>
                    </a:solidFill>
                  </a:tcPr>
                </a:tc>
                <a:tc>
                  <a:txBody>
                    <a:bodyPr/>
                    <a:lstStyle/>
                    <a:p>
                      <a:r>
                        <a:rPr sz="1725">
                          <a:solidFill>
                            <a:srgbClr val="E5F1EC"/>
                          </a:solidFill>
                          <a:latin typeface="Arial"/>
                          <a:ea typeface="Arial"/>
                          <a:cs typeface="Arial"/>
                        </a:rPr>
                        <a:t>Coverage and restrictions vary</a:t>
                      </a:r>
                    </a:p>
                  </a:txBody>
                  <a:tcPr marL="152400" marR="152400" marT="114300" marB="114300">
                    <a:solidFill>
                      <a:srgbClr val="0C171D"/>
                    </a:solidFill>
                  </a:tcPr>
                </a:tc>
              </a:tr>
              <a:tr h="673100">
                <a:tc>
                  <a:txBody>
                    <a:bodyPr/>
                    <a:lstStyle/>
                    <a:p>
                      <a:r>
                        <a:rPr sz="1725">
                          <a:solidFill>
                            <a:srgbClr val="E5F1EC"/>
                          </a:solidFill>
                          <a:latin typeface="Arial"/>
                          <a:ea typeface="Arial"/>
                          <a:cs typeface="Arial"/>
                        </a:rPr>
                        <a:t>Landslides</a:t>
                      </a:r>
                    </a:p>
                  </a:txBody>
                  <a:tcPr marL="152400" marR="152400" marT="114300" marB="114300">
                    <a:solidFill>
                      <a:srgbClr val="0C171D"/>
                    </a:solidFill>
                  </a:tcPr>
                </a:tc>
                <a:tc>
                  <a:txBody>
                    <a:bodyPr/>
                    <a:lstStyle/>
                    <a:p>
                      <a:r>
                        <a:rPr sz="1725">
                          <a:solidFill>
                            <a:srgbClr val="E5F1EC"/>
                          </a:solidFill>
                          <a:latin typeface="Arial"/>
                          <a:ea typeface="Arial"/>
                          <a:cs typeface="Arial"/>
                        </a:rPr>
                        <a:t>467 historical NE records</a:t>
                      </a:r>
                    </a:p>
                  </a:txBody>
                  <a:tcPr marL="152400" marR="152400" marT="114300" marB="114300">
                    <a:solidFill>
                      <a:srgbClr val="0C171D"/>
                    </a:solidFill>
                  </a:tcPr>
                </a:tc>
                <a:tc>
                  <a:txBody>
                    <a:bodyPr/>
                    <a:lstStyle/>
                    <a:p>
                      <a:r>
                        <a:rPr sz="1725">
                          <a:solidFill>
                            <a:srgbClr val="E5F1EC"/>
                          </a:solidFill>
                          <a:latin typeface="Arial"/>
                          <a:ea typeface="Arial"/>
                          <a:cs typeface="Arial"/>
                        </a:rPr>
                        <a:t>Reported events, not current closures</a:t>
                      </a:r>
                    </a:p>
                  </a:txBody>
                  <a:tcPr marL="152400" marR="152400" marT="114300" marB="114300">
                    <a:solidFill>
                      <a:srgbClr val="0C171D"/>
                    </a:solidFill>
                  </a:tcPr>
                </a:tc>
              </a:tr>
              <a:tr h="673100">
                <a:tc>
                  <a:txBody>
                    <a:bodyPr/>
                    <a:lstStyle/>
                    <a:p>
                      <a:r>
                        <a:rPr sz="1725">
                          <a:solidFill>
                            <a:srgbClr val="E5F1EC"/>
                          </a:solidFill>
                          <a:latin typeface="Arial"/>
                          <a:ea typeface="Arial"/>
                          <a:cs typeface="Arial"/>
                        </a:rPr>
                        <a:t>Weather</a:t>
                      </a:r>
                    </a:p>
                  </a:txBody>
                  <a:tcPr marL="152400" marR="152400" marT="114300" marB="114300">
                    <a:solidFill>
                      <a:srgbClr val="0C171D"/>
                    </a:solidFill>
                  </a:tcPr>
                </a:tc>
                <a:tc>
                  <a:txBody>
                    <a:bodyPr/>
                    <a:lstStyle/>
                    <a:p>
                      <a:r>
                        <a:rPr sz="1725">
                          <a:solidFill>
                            <a:srgbClr val="E5F1EC"/>
                          </a:solidFill>
                          <a:latin typeface="Arial"/>
                          <a:ea typeface="Arial"/>
                          <a:cs typeface="Arial"/>
                        </a:rPr>
                        <a:t>14,608 point-days</a:t>
                      </a:r>
                    </a:p>
                  </a:txBody>
                  <a:tcPr marL="152400" marR="152400" marT="114300" marB="114300">
                    <a:solidFill>
                      <a:srgbClr val="0C171D"/>
                    </a:solidFill>
                  </a:tcPr>
                </a:tc>
                <a:tc>
                  <a:txBody>
                    <a:bodyPr/>
                    <a:lstStyle/>
                    <a:p>
                      <a:r>
                        <a:rPr sz="1725">
                          <a:solidFill>
                            <a:srgbClr val="E5F1EC"/>
                          </a:solidFill>
                          <a:latin typeface="Arial"/>
                          <a:ea typeface="Arial"/>
                          <a:cs typeface="Arial"/>
                        </a:rPr>
                        <a:t>8 reference points, 2021–2025</a:t>
                      </a:r>
                    </a:p>
                  </a:txBody>
                  <a:tcPr marL="152400" marR="152400" marT="114300" marB="114300">
                    <a:solidFill>
                      <a:srgbClr val="0C171D"/>
                    </a:solidFill>
                  </a:tcPr>
                </a:tc>
              </a:tr>
              <a:tr h="673100">
                <a:tc>
                  <a:txBody>
                    <a:bodyPr/>
                    <a:lstStyle/>
                    <a:p>
                      <a:r>
                        <a:rPr sz="1725">
                          <a:solidFill>
                            <a:srgbClr val="E5F1EC"/>
                          </a:solidFill>
                          <a:latin typeface="Arial"/>
                          <a:ea typeface="Arial"/>
                          <a:cs typeface="Arial"/>
                        </a:rPr>
                        <a:t>Terrain</a:t>
                      </a:r>
                    </a:p>
                  </a:txBody>
                  <a:tcPr marL="152400" marR="152400" marT="114300" marB="114300">
                    <a:solidFill>
                      <a:srgbClr val="0C171D"/>
                    </a:solidFill>
                  </a:tcPr>
                </a:tc>
                <a:tc>
                  <a:txBody>
                    <a:bodyPr/>
                    <a:lstStyle/>
                    <a:p>
                      <a:r>
                        <a:rPr sz="1725">
                          <a:solidFill>
                            <a:srgbClr val="E5F1EC"/>
                          </a:solidFill>
                          <a:latin typeface="Arial"/>
                          <a:ea typeface="Arial"/>
                          <a:cs typeface="Arial"/>
                        </a:rPr>
                        <a:t>45 elevation tiles</a:t>
                      </a:r>
                    </a:p>
                  </a:txBody>
                  <a:tcPr marL="152400" marR="152400" marT="114300" marB="114300">
                    <a:solidFill>
                      <a:srgbClr val="0C171D"/>
                    </a:solidFill>
                  </a:tcPr>
                </a:tc>
                <a:tc>
                  <a:txBody>
                    <a:bodyPr/>
                    <a:lstStyle/>
                    <a:p>
                      <a:r>
                        <a:rPr sz="1725">
                          <a:solidFill>
                            <a:srgbClr val="E5F1EC"/>
                          </a:solidFill>
                          <a:latin typeface="Arial"/>
                          <a:ea typeface="Arial"/>
                          <a:cs typeface="Arial"/>
                        </a:rPr>
                        <a:t>Elevation supports terrain analysis</a:t>
                      </a:r>
                    </a:p>
                  </a:txBody>
                  <a:tcPr marL="152400" marR="152400" marT="114300" marB="114300">
                    <a:solidFill>
                      <a:srgbClr val="0C171D"/>
                    </a:solidFill>
                  </a:tcPr>
                </a:tc>
              </a:tr>
              <a:tr h="673100">
                <a:tc>
                  <a:txBody>
                    <a:bodyPr/>
                    <a:lstStyle/>
                    <a:p>
                      <a:r>
                        <a:rPr sz="1725">
                          <a:solidFill>
                            <a:srgbClr val="E5F1EC"/>
                          </a:solidFill>
                          <a:latin typeface="Arial"/>
                          <a:ea typeface="Arial"/>
                          <a:cs typeface="Arial"/>
                        </a:rPr>
                        <a:t>Road safety</a:t>
                      </a:r>
                    </a:p>
                  </a:txBody>
                  <a:tcPr marL="152400" marR="152400" marT="114300" marB="114300">
                    <a:solidFill>
                      <a:srgbClr val="0C171D"/>
                    </a:solidFill>
                  </a:tcPr>
                </a:tc>
                <a:tc>
                  <a:txBody>
                    <a:bodyPr/>
                    <a:lstStyle/>
                    <a:p>
                      <a:r>
                        <a:rPr sz="1725">
                          <a:solidFill>
                            <a:srgbClr val="E5F1EC"/>
                          </a:solidFill>
                          <a:latin typeface="Arial"/>
                          <a:ea typeface="Arial"/>
                          <a:cs typeface="Arial"/>
                        </a:rPr>
                        <a:t>MoRTH report + Assam tables</a:t>
                      </a:r>
                    </a:p>
                  </a:txBody>
                  <a:tcPr marL="152400" marR="152400" marT="114300" marB="114300">
                    <a:solidFill>
                      <a:srgbClr val="0C171D"/>
                    </a:solidFill>
                  </a:tcPr>
                </a:tc>
                <a:tc>
                  <a:txBody>
                    <a:bodyPr/>
                    <a:lstStyle/>
                    <a:p>
                      <a:r>
                        <a:rPr sz="1725">
                          <a:solidFill>
                            <a:srgbClr val="E5F1EC"/>
                          </a:solidFill>
                          <a:latin typeface="Arial"/>
                          <a:ea typeface="Arial"/>
                          <a:cs typeface="Arial"/>
                        </a:rPr>
                        <a:t>Coordinate review still required</a:t>
                      </a:r>
                    </a:p>
                  </a:txBody>
                  <a:tcPr marL="152400" marR="152400" marT="114300" marB="114300">
                    <a:solidFill>
                      <a:srgbClr val="0C171D"/>
                    </a:solidFill>
                  </a:tcPr>
                </a:tc>
              </a:tr>
            </a:tbl>
          </a:graphicData>
        </a:graphic>
      </p:graphicFrame>
      <p:sp>
        <p:nvSpPr>
          <p:cNvPr id="3" name="">
            <a:extLst xmlns:a="http://schemas.openxmlformats.org/drawingml/2006/main">
              <a:ext uri="{FF2B5EF4-FFF2-40B4-BE49-F238E27FC236}">
                <a16:creationId xmlns:a16="http://schemas.microsoft.com/office/drawing/2014/main" id="{2250240F-5682-47A0-B148-2F1672485813}"/>
              </a:ext>
            </a:extLst>
          </p:cNvPr>
          <p:cNvSpPr>
            <a:spLocks xmlns:a="http://schemas.openxmlformats.org/drawingml/2006/main" noGrp="1"/>
          </p:cNvSpPr>
          <p:nvPr/>
        </p:nvSpPr>
        <p:spPr>
          <a:xfrm xmlns:a="http://schemas.openxmlformats.org/drawingml/2006/main">
            <a:off x="609600" y="5895975"/>
            <a:ext cx="1076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EDB679"/>
                </a:solidFill>
                <a:latin typeface="Arial"/>
                <a:ea typeface="Arial"/>
                <a:cs typeface="Arial"/>
              </a:defRPr>
            </a:pPr>
            <a:r>
              <a:rPr sz="1725" b="0">
                <a:solidFill>
                  <a:srgbClr val="EDB679"/>
                </a:solidFill>
                <a:latin typeface="Arial"/>
                <a:ea typeface="Arial"/>
                <a:cs typeface="Arial"/>
              </a:rPr>
              <a:t>Verified road-level hazard matching remains the next data milestone.</a:t>
            </a:r>
          </a:p>
        </p:txBody>
      </p:sp>
    </p:spTree>
    <p:extLst>
      <p:ext uri="{BB962C8B-B14F-4D97-AF65-F5344CB8AC3E}">
        <p14:creationId xmlns:p14="http://schemas.microsoft.com/office/powerpoint/2010/main" val="13506577"/>
      </p:ext>
    </p:extLst>
  </p:cSld>
</p:sld>
</file>

<file path=ppt/slides/slide7.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7753BCC-928E-45C8-B842-CC057621FEC3}"/>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A measured time–risk tradeoff</a:t>
            </a:r>
          </a:p>
        </p:txBody>
      </p:sp>
      <p:sp>
        <p:nvSpPr>
          <p:cNvPr id="2" name="">
            <a:extLst xmlns:a="http://schemas.openxmlformats.org/drawingml/2006/main">
              <a:ext uri="{FF2B5EF4-FFF2-40B4-BE49-F238E27FC236}">
                <a16:creationId xmlns:a16="http://schemas.microsoft.com/office/drawing/2014/main" id="{F78D4446-559F-43AB-9740-274C1CAEA6FF}"/>
              </a:ext>
            </a:extLst>
          </p:cNvPr>
          <p:cNvSpPr>
            <a:spLocks xmlns:a="http://schemas.openxmlformats.org/drawingml/2006/main" noGrp="1"/>
          </p:cNvSpPr>
          <p:nvPr/>
        </p:nvSpPr>
        <p:spPr>
          <a:xfrm xmlns:a="http://schemas.openxmlformats.org/drawingml/2006/main">
            <a:off x="609600" y="1314450"/>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BCBA"/>
                </a:solidFill>
                <a:latin typeface="Arial"/>
                <a:ea typeface="Arial"/>
                <a:cs typeface="Arial"/>
              </a:defRPr>
            </a:pPr>
            <a:r>
              <a:rPr sz="1875" b="0">
                <a:solidFill>
                  <a:srgbClr val="A6BCBA"/>
                </a:solidFill>
                <a:latin typeface="Arial"/>
                <a:ea typeface="Arial"/>
                <a:cs typeface="Arial"/>
              </a:rPr>
              <a:t>Controlled synthetic journey</a:t>
            </a:r>
          </a:p>
        </p:txBody>
      </p:sp>
      <p:graphicFrame>
        <p:nvGraphicFramePr>
          <p:cNvPr id="8" name=""/>
          <p:cNvGraphicFramePr/>
          <p:nvPr/>
        </p:nvGraphicFramePr>
        <p:xfrm>
          <a:off xmlns:a="http://schemas.openxmlformats.org/drawingml/2006/main" x="609600" y="1971675"/>
          <a:ext xmlns:a="http://schemas.openxmlformats.org/drawingml/2006/main" cx="10972800" cy="3009900"/>
        </p:xfrm>
        <a:graphic xmlns:a="http://schemas.openxmlformats.org/drawingml/2006/main">
          <a:graphicData uri="http://schemas.openxmlformats.org/drawingml/2006/table">
            <a:tbl>
              <a:tblPr/>
              <a:tblGrid>
                <a:gridCol w="4114800"/>
                <a:gridCol w="3429000"/>
                <a:gridCol w="3429000"/>
              </a:tblGrid>
              <a:tr h="601980">
                <a:tc>
                  <a:txBody>
                    <a:bodyPr/>
                    <a:lstStyle/>
                    <a:p>
                      <a:r>
                        <a:rPr sz="1950" b="1">
                          <a:solidFill>
                            <a:srgbClr val="8AF4CB"/>
                          </a:solidFill>
                          <a:latin typeface="Arial"/>
                          <a:ea typeface="Arial"/>
                          <a:cs typeface="Arial"/>
                        </a:rPr>
                        <a:t>Metric</a:t>
                      </a:r>
                    </a:p>
                  </a:txBody>
                  <a:tcPr marL="152400" marR="152400" marT="114300" marB="114300">
                    <a:solidFill>
                      <a:srgbClr val="203830"/>
                    </a:solidFill>
                  </a:tcPr>
                </a:tc>
                <a:tc>
                  <a:txBody>
                    <a:bodyPr/>
                    <a:lstStyle/>
                    <a:p>
                      <a:r>
                        <a:rPr sz="1950" b="1">
                          <a:solidFill>
                            <a:srgbClr val="8AF4CB"/>
                          </a:solidFill>
                          <a:latin typeface="Arial"/>
                          <a:ea typeface="Arial"/>
                          <a:cs typeface="Arial"/>
                        </a:rPr>
                        <a:t>Fastest estimate</a:t>
                      </a:r>
                    </a:p>
                  </a:txBody>
                  <a:tcPr marL="152400" marR="152400" marT="114300" marB="114300">
                    <a:solidFill>
                      <a:srgbClr val="203830"/>
                    </a:solidFill>
                  </a:tcPr>
                </a:tc>
                <a:tc>
                  <a:txBody>
                    <a:bodyPr/>
                    <a:lstStyle/>
                    <a:p>
                      <a:r>
                        <a:rPr sz="1950" b="1">
                          <a:solidFill>
                            <a:srgbClr val="8AF4CB"/>
                          </a:solidFill>
                          <a:latin typeface="Arial"/>
                          <a:ea typeface="Arial"/>
                          <a:cs typeface="Arial"/>
                        </a:rPr>
                        <a:t>Risk-aware route</a:t>
                      </a:r>
                    </a:p>
                  </a:txBody>
                  <a:tcPr marL="152400" marR="152400" marT="114300" marB="114300">
                    <a:solidFill>
                      <a:srgbClr val="203830"/>
                    </a:solidFill>
                  </a:tcPr>
                </a:tc>
              </a:tr>
              <a:tr h="601980">
                <a:tc>
                  <a:txBody>
                    <a:bodyPr/>
                    <a:lstStyle/>
                    <a:p>
                      <a:r>
                        <a:rPr sz="1950">
                          <a:solidFill>
                            <a:srgbClr val="E5F1EC"/>
                          </a:solidFill>
                          <a:latin typeface="Arial"/>
                          <a:ea typeface="Arial"/>
                          <a:cs typeface="Arial"/>
                        </a:rPr>
                        <a:t>Travel time</a:t>
                      </a:r>
                    </a:p>
                  </a:txBody>
                  <a:tcPr marL="152400" marR="152400" marT="114300" marB="114300">
                    <a:solidFill>
                      <a:srgbClr val="0C171D"/>
                    </a:solidFill>
                  </a:tcPr>
                </a:tc>
                <a:tc>
                  <a:txBody>
                    <a:bodyPr/>
                    <a:lstStyle/>
                    <a:p>
                      <a:r>
                        <a:rPr sz="1950">
                          <a:solidFill>
                            <a:srgbClr val="E5F1EC"/>
                          </a:solidFill>
                          <a:latin typeface="Arial"/>
                          <a:ea typeface="Arial"/>
                          <a:cs typeface="Arial"/>
                        </a:rPr>
                        <a:t>13.73 min</a:t>
                      </a:r>
                    </a:p>
                  </a:txBody>
                  <a:tcPr marL="152400" marR="152400" marT="114300" marB="114300">
                    <a:solidFill>
                      <a:srgbClr val="0C171D"/>
                    </a:solidFill>
                  </a:tcPr>
                </a:tc>
                <a:tc>
                  <a:txBody>
                    <a:bodyPr/>
                    <a:lstStyle/>
                    <a:p>
                      <a:r>
                        <a:rPr sz="1950">
                          <a:solidFill>
                            <a:srgbClr val="E5F1EC"/>
                          </a:solidFill>
                          <a:latin typeface="Arial"/>
                          <a:ea typeface="Arial"/>
                          <a:cs typeface="Arial"/>
                        </a:rPr>
                        <a:t>21.38 min</a:t>
                      </a:r>
                    </a:p>
                  </a:txBody>
                  <a:tcPr marL="152400" marR="152400" marT="114300" marB="114300">
                    <a:solidFill>
                      <a:srgbClr val="0C171D"/>
                    </a:solidFill>
                  </a:tcPr>
                </a:tc>
              </a:tr>
              <a:tr h="601980">
                <a:tc>
                  <a:txBody>
                    <a:bodyPr/>
                    <a:lstStyle/>
                    <a:p>
                      <a:r>
                        <a:rPr sz="1950">
                          <a:solidFill>
                            <a:srgbClr val="E5F1EC"/>
                          </a:solidFill>
                          <a:latin typeface="Arial"/>
                          <a:ea typeface="Arial"/>
                          <a:cs typeface="Arial"/>
                        </a:rPr>
                        <a:t>Distance</a:t>
                      </a:r>
                    </a:p>
                  </a:txBody>
                  <a:tcPr marL="152400" marR="152400" marT="114300" marB="114300">
                    <a:solidFill>
                      <a:srgbClr val="0C171D"/>
                    </a:solidFill>
                  </a:tcPr>
                </a:tc>
                <a:tc>
                  <a:txBody>
                    <a:bodyPr/>
                    <a:lstStyle/>
                    <a:p>
                      <a:r>
                        <a:rPr sz="1950">
                          <a:solidFill>
                            <a:srgbClr val="E5F1EC"/>
                          </a:solidFill>
                          <a:latin typeface="Arial"/>
                          <a:ea typeface="Arial"/>
                          <a:cs typeface="Arial"/>
                        </a:rPr>
                        <a:t>12.59 km</a:t>
                      </a:r>
                    </a:p>
                  </a:txBody>
                  <a:tcPr marL="152400" marR="152400" marT="114300" marB="114300">
                    <a:solidFill>
                      <a:srgbClr val="0C171D"/>
                    </a:solidFill>
                  </a:tcPr>
                </a:tc>
                <a:tc>
                  <a:txBody>
                    <a:bodyPr/>
                    <a:lstStyle/>
                    <a:p>
                      <a:r>
                        <a:rPr sz="1950">
                          <a:solidFill>
                            <a:srgbClr val="E5F1EC"/>
                          </a:solidFill>
                          <a:latin typeface="Arial"/>
                          <a:ea typeface="Arial"/>
                          <a:cs typeface="Arial"/>
                        </a:rPr>
                        <a:t>16.79 km</a:t>
                      </a:r>
                    </a:p>
                  </a:txBody>
                  <a:tcPr marL="152400" marR="152400" marT="114300" marB="114300">
                    <a:solidFill>
                      <a:srgbClr val="0C171D"/>
                    </a:solidFill>
                  </a:tcPr>
                </a:tc>
              </a:tr>
              <a:tr h="601980">
                <a:tc>
                  <a:txBody>
                    <a:bodyPr/>
                    <a:lstStyle/>
                    <a:p>
                      <a:r>
                        <a:rPr sz="1950">
                          <a:solidFill>
                            <a:srgbClr val="E5F1EC"/>
                          </a:solidFill>
                          <a:latin typeface="Arial"/>
                          <a:ea typeface="Arial"/>
                          <a:cs typeface="Arial"/>
                        </a:rPr>
                        <a:t>Risk exposure</a:t>
                      </a:r>
                    </a:p>
                  </a:txBody>
                  <a:tcPr marL="152400" marR="152400" marT="114300" marB="114300">
                    <a:solidFill>
                      <a:srgbClr val="0C171D"/>
                    </a:solidFill>
                  </a:tcPr>
                </a:tc>
                <a:tc>
                  <a:txBody>
                    <a:bodyPr/>
                    <a:lstStyle/>
                    <a:p>
                      <a:r>
                        <a:rPr sz="1950">
                          <a:solidFill>
                            <a:srgbClr val="E5F1EC"/>
                          </a:solidFill>
                          <a:latin typeface="Arial"/>
                          <a:ea typeface="Arial"/>
                          <a:cs typeface="Arial"/>
                        </a:rPr>
                        <a:t>3.7308 risk-km</a:t>
                      </a:r>
                    </a:p>
                  </a:txBody>
                  <a:tcPr marL="152400" marR="152400" marT="114300" marB="114300">
                    <a:solidFill>
                      <a:srgbClr val="0C171D"/>
                    </a:solidFill>
                  </a:tcPr>
                </a:tc>
                <a:tc>
                  <a:txBody>
                    <a:bodyPr/>
                    <a:lstStyle/>
                    <a:p>
                      <a:r>
                        <a:rPr sz="1950">
                          <a:solidFill>
                            <a:srgbClr val="E5F1EC"/>
                          </a:solidFill>
                          <a:latin typeface="Arial"/>
                          <a:ea typeface="Arial"/>
                          <a:cs typeface="Arial"/>
                        </a:rPr>
                        <a:t>0.9335 risk-km</a:t>
                      </a:r>
                    </a:p>
                  </a:txBody>
                  <a:tcPr marL="152400" marR="152400" marT="114300" marB="114300">
                    <a:solidFill>
                      <a:srgbClr val="0C171D"/>
                    </a:solidFill>
                  </a:tcPr>
                </a:tc>
              </a:tr>
              <a:tr h="601980">
                <a:tc>
                  <a:txBody>
                    <a:bodyPr/>
                    <a:lstStyle/>
                    <a:p>
                      <a:r>
                        <a:rPr sz="1950">
                          <a:solidFill>
                            <a:srgbClr val="E5F1EC"/>
                          </a:solidFill>
                          <a:latin typeface="Arial"/>
                          <a:ea typeface="Arial"/>
                          <a:cs typeface="Arial"/>
                        </a:rPr>
                        <a:t>High-risk segments</a:t>
                      </a:r>
                    </a:p>
                  </a:txBody>
                  <a:tcPr marL="152400" marR="152400" marT="114300" marB="114300">
                    <a:solidFill>
                      <a:srgbClr val="0C171D"/>
                    </a:solidFill>
                  </a:tcPr>
                </a:tc>
                <a:tc>
                  <a:txBody>
                    <a:bodyPr/>
                    <a:lstStyle/>
                    <a:p>
                      <a:r>
                        <a:rPr sz="1950">
                          <a:solidFill>
                            <a:srgbClr val="E5F1EC"/>
                          </a:solidFill>
                          <a:latin typeface="Arial"/>
                          <a:ea typeface="Arial"/>
                          <a:cs typeface="Arial"/>
                        </a:rPr>
                        <a:t>2</a:t>
                      </a:r>
                    </a:p>
                  </a:txBody>
                  <a:tcPr marL="152400" marR="152400" marT="114300" marB="114300">
                    <a:solidFill>
                      <a:srgbClr val="0C171D"/>
                    </a:solidFill>
                  </a:tcPr>
                </a:tc>
                <a:tc>
                  <a:txBody>
                    <a:bodyPr/>
                    <a:lstStyle/>
                    <a:p>
                      <a:r>
                        <a:rPr sz="1950">
                          <a:solidFill>
                            <a:srgbClr val="E5F1EC"/>
                          </a:solidFill>
                          <a:latin typeface="Arial"/>
                          <a:ea typeface="Arial"/>
                          <a:cs typeface="Arial"/>
                        </a:rPr>
                        <a:t>0</a:t>
                      </a:r>
                    </a:p>
                  </a:txBody>
                  <a:tcPr marL="152400" marR="152400" marT="114300" marB="114300">
                    <a:solidFill>
                      <a:srgbClr val="0C171D"/>
                    </a:solidFill>
                  </a:tcPr>
                </a:tc>
              </a:tr>
            </a:tbl>
          </a:graphicData>
        </a:graphic>
      </p:graphicFrame>
      <p:sp>
        <p:nvSpPr>
          <p:cNvPr id="4" name="">
            <a:extLst xmlns:a="http://schemas.openxmlformats.org/drawingml/2006/main">
              <a:ext uri="{FF2B5EF4-FFF2-40B4-BE49-F238E27FC236}">
                <a16:creationId xmlns:a16="http://schemas.microsoft.com/office/drawing/2014/main" id="{63FE200B-4EE3-4BFC-8443-75A1E8F728AB}"/>
              </a:ext>
            </a:extLst>
          </p:cNvPr>
          <p:cNvSpPr>
            <a:spLocks xmlns:a="http://schemas.openxmlformats.org/drawingml/2006/main" noGrp="1"/>
          </p:cNvSpPr>
          <p:nvPr/>
        </p:nvSpPr>
        <p:spPr>
          <a:xfrm xmlns:a="http://schemas.openxmlformats.org/drawingml/2006/main">
            <a:off x="609600" y="5286375"/>
            <a:ext cx="1095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8AF4CB"/>
                </a:solidFill>
                <a:latin typeface="Arial"/>
                <a:ea typeface="Arial"/>
                <a:cs typeface="Arial"/>
              </a:defRPr>
            </a:pPr>
            <a:r>
              <a:rPr sz="2325" b="1">
                <a:solidFill>
                  <a:srgbClr val="8AF4CB"/>
                </a:solidFill>
                <a:latin typeface="Arial"/>
                <a:ea typeface="Arial"/>
                <a:cs typeface="Arial"/>
              </a:rPr>
              <a:t>75.0% lower modelled exposure for 7.65 extra minutes</a:t>
            </a:r>
          </a:p>
        </p:txBody>
      </p:sp>
      <p:sp>
        <p:nvSpPr>
          <p:cNvPr id="5" name="">
            <a:extLst xmlns:a="http://schemas.openxmlformats.org/drawingml/2006/main">
              <a:ext uri="{FF2B5EF4-FFF2-40B4-BE49-F238E27FC236}">
                <a16:creationId xmlns:a16="http://schemas.microsoft.com/office/drawing/2014/main" id="{CABF2094-52DE-4E15-964E-7914CD8E27C2}"/>
              </a:ext>
            </a:extLst>
          </p:cNvPr>
          <p:cNvSpPr>
            <a:spLocks xmlns:a="http://schemas.openxmlformats.org/drawingml/2006/main" noGrp="1"/>
          </p:cNvSpPr>
          <p:nvPr/>
        </p:nvSpPr>
        <p:spPr>
          <a:xfrm xmlns:a="http://schemas.openxmlformats.org/drawingml/2006/main">
            <a:off x="609600" y="6010275"/>
            <a:ext cx="1085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A6BCBA"/>
                </a:solidFill>
                <a:latin typeface="Arial"/>
                <a:ea typeface="Arial"/>
                <a:cs typeface="Arial"/>
              </a:defRPr>
            </a:pPr>
            <a:r>
              <a:rPr sz="1575" b="0">
                <a:solidFill>
                  <a:srgbClr val="A6BCBA"/>
                </a:solidFill>
                <a:latin typeface="Arial"/>
                <a:ea typeface="Arial"/>
                <a:cs typeface="Arial"/>
              </a:rPr>
              <a:t>This experiment demonstrates the tradeoff. Field safety validation is still required.</a:t>
            </a:r>
          </a:p>
        </p:txBody>
      </p:sp>
    </p:spTree>
    <p:extLst>
      <p:ext uri="{BB962C8B-B14F-4D97-AF65-F5344CB8AC3E}">
        <p14:creationId xmlns:p14="http://schemas.microsoft.com/office/powerpoint/2010/main" val="1343697879"/>
      </p:ext>
    </p:extLst>
  </p:cSld>
</p:sld>
</file>

<file path=ppt/slides/slide8.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AAF143E-D163-451B-A5F4-F3D2138F4D1C}"/>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Validation and current boundaries</a:t>
            </a:r>
          </a:p>
        </p:txBody>
      </p:sp>
      <p:sp>
        <p:nvSpPr>
          <p:cNvPr id="2" name="">
            <a:extLst xmlns:a="http://schemas.openxmlformats.org/drawingml/2006/main">
              <a:ext uri="{FF2B5EF4-FFF2-40B4-BE49-F238E27FC236}">
                <a16:creationId xmlns:a16="http://schemas.microsoft.com/office/drawing/2014/main" id="{04F8818C-3A5D-4C53-8152-5AD89DBDCB83}"/>
              </a:ext>
            </a:extLst>
          </p:cNvPr>
          <p:cNvSpPr>
            <a:spLocks xmlns:a="http://schemas.openxmlformats.org/drawingml/2006/main" noGrp="1"/>
          </p:cNvSpPr>
          <p:nvPr/>
        </p:nvSpPr>
        <p:spPr>
          <a:xfrm xmlns:a="http://schemas.openxmlformats.org/drawingml/2006/main">
            <a:off x="609600" y="1543050"/>
            <a:ext cx="6667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75" b="1">
                <a:solidFill>
                  <a:srgbClr val="8AF4CB"/>
                </a:solidFill>
                <a:latin typeface="Arial"/>
                <a:ea typeface="Arial"/>
                <a:cs typeface="Arial"/>
              </a:defRPr>
            </a:pPr>
            <a:r>
              <a:rPr sz="3975" b="1">
                <a:solidFill>
                  <a:srgbClr val="8AF4CB"/>
                </a:solidFill>
                <a:latin typeface="Arial"/>
                <a:ea typeface="Arial"/>
                <a:cs typeface="Arial"/>
              </a:rPr>
              <a:t>27 passing tests</a:t>
            </a:r>
          </a:p>
        </p:txBody>
      </p:sp>
      <p:sp>
        <p:nvSpPr>
          <p:cNvPr id="3" name="">
            <a:extLst xmlns:a="http://schemas.openxmlformats.org/drawingml/2006/main">
              <a:ext uri="{FF2B5EF4-FFF2-40B4-BE49-F238E27FC236}">
                <a16:creationId xmlns:a16="http://schemas.microsoft.com/office/drawing/2014/main" id="{AD29AFAC-560B-4007-8C77-121007BCACBB}"/>
              </a:ext>
            </a:extLst>
          </p:cNvPr>
          <p:cNvSpPr>
            <a:spLocks xmlns:a="http://schemas.openxmlformats.org/drawingml/2006/main" noGrp="1"/>
          </p:cNvSpPr>
          <p:nvPr/>
        </p:nvSpPr>
        <p:spPr>
          <a:xfrm xmlns:a="http://schemas.openxmlformats.org/drawingml/2006/main">
            <a:off x="609600" y="2600325"/>
            <a:ext cx="10858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E5F1EC"/>
                </a:solidFill>
                <a:latin typeface="Arial"/>
                <a:ea typeface="Arial"/>
                <a:cs typeface="Arial"/>
              </a:defRPr>
            </a:pPr>
            <a:r>
              <a:rPr sz="2250" b="0">
                <a:solidFill>
                  <a:srgbClr val="E5F1EC"/>
                </a:solidFill>
                <a:latin typeface="Arial"/>
                <a:ea typeface="Arial"/>
                <a:cs typeface="Arial"/>
              </a:rPr>
              <a:t>300 independent Dijkstra cost comparisons</a:t>
            </a:r>
          </a:p>
          <a:p xmlns:a="http://schemas.openxmlformats.org/drawingml/2006/main">
            <a:pPr>
              <a:defRPr sz="2250" b="0">
                <a:solidFill>
                  <a:srgbClr val="E5F1EC"/>
                </a:solidFill>
                <a:latin typeface="Arial"/>
                <a:ea typeface="Arial"/>
                <a:cs typeface="Arial"/>
              </a:defRPr>
            </a:pPr>
            <a:r>
              <a:rPr sz="2250" b="0">
                <a:solidFill>
                  <a:srgbClr val="E5F1EC"/>
                </a:solidFill>
                <a:latin typeface="Arial"/>
                <a:ea typeface="Arial"/>
                <a:cs typeface="Arial"/>
              </a:rPr>
              <a:t>56 fixed synthetic evaluation journeys</a:t>
            </a:r>
          </a:p>
        </p:txBody>
      </p:sp>
      <p:sp>
        <p:nvSpPr>
          <p:cNvPr id="4" name="">
            <a:extLst xmlns:a="http://schemas.openxmlformats.org/drawingml/2006/main">
              <a:ext uri="{FF2B5EF4-FFF2-40B4-BE49-F238E27FC236}">
                <a16:creationId xmlns:a16="http://schemas.microsoft.com/office/drawing/2014/main" id="{6DFD5A31-B558-4094-8608-3227D8E7C0FA}"/>
              </a:ext>
            </a:extLst>
          </p:cNvPr>
          <p:cNvSpPr>
            <a:spLocks xmlns:a="http://schemas.openxmlformats.org/drawingml/2006/main" noGrp="1"/>
          </p:cNvSpPr>
          <p:nvPr/>
        </p:nvSpPr>
        <p:spPr>
          <a:xfrm xmlns:a="http://schemas.openxmlformats.org/drawingml/2006/main">
            <a:off x="609600" y="4010025"/>
            <a:ext cx="10858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E5F1EC"/>
                </a:solidFill>
                <a:latin typeface="Arial"/>
                <a:ea typeface="Arial"/>
                <a:cs typeface="Arial"/>
              </a:defRPr>
            </a:pPr>
            <a:r>
              <a:rPr sz="2100" b="1">
                <a:solidFill>
                  <a:srgbClr val="E5F1EC"/>
                </a:solidFill>
                <a:latin typeface="Arial"/>
                <a:ea typeface="Arial"/>
                <a:cs typeface="Arial"/>
              </a:rPr>
              <a:t>Real Guwahati pilot: 5,814 nodes and 13,681 directed segments</a:t>
            </a:r>
          </a:p>
        </p:txBody>
      </p:sp>
      <p:sp>
        <p:nvSpPr>
          <p:cNvPr id="5" name="">
            <a:extLst xmlns:a="http://schemas.openxmlformats.org/drawingml/2006/main">
              <a:ext uri="{FF2B5EF4-FFF2-40B4-BE49-F238E27FC236}">
                <a16:creationId xmlns:a16="http://schemas.microsoft.com/office/drawing/2014/main" id="{FF7E0BCD-99C9-40E1-B7FC-D1E96D18E7DC}"/>
              </a:ext>
            </a:extLst>
          </p:cNvPr>
          <p:cNvSpPr>
            <a:spLocks xmlns:a="http://schemas.openxmlformats.org/drawingml/2006/main" noGrp="1"/>
          </p:cNvSpPr>
          <p:nvPr/>
        </p:nvSpPr>
        <p:spPr>
          <a:xfrm xmlns:a="http://schemas.openxmlformats.org/drawingml/2006/main">
            <a:off x="609600" y="5191125"/>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EDB679"/>
                </a:solidFill>
                <a:latin typeface="Arial"/>
                <a:ea typeface="Arial"/>
                <a:cs typeface="Arial"/>
              </a:defRPr>
            </a:pPr>
            <a:r>
              <a:rPr sz="1950" b="0">
                <a:solidFill>
                  <a:srgbClr val="EDB679"/>
                </a:solidFill>
                <a:latin typeface="Arial"/>
                <a:ea typeface="Arial"/>
                <a:cs typeface="Arial"/>
              </a:rPr>
              <a:t>No verified hazard joins on the real graph yet.</a:t>
            </a:r>
          </a:p>
          <a:p xmlns:a="http://schemas.openxmlformats.org/drawingml/2006/main">
            <a:pPr>
              <a:defRPr sz="1950" b="0">
                <a:solidFill>
                  <a:srgbClr val="EDB679"/>
                </a:solidFill>
                <a:latin typeface="Arial"/>
                <a:ea typeface="Arial"/>
                <a:cs typeface="Arial"/>
              </a:defRPr>
            </a:pPr>
            <a:r>
              <a:rPr sz="1950" b="0">
                <a:solidFill>
                  <a:srgbClr val="EDB679"/>
                </a:solidFill>
                <a:latin typeface="Arial"/>
                <a:ea typeface="Arial"/>
                <a:cs typeface="Arial"/>
              </a:rPr>
              <a:t>Predictive ML, live feeds and field validation remain future work.</a:t>
            </a:r>
          </a:p>
        </p:txBody>
      </p:sp>
    </p:spTree>
    <p:extLst>
      <p:ext uri="{BB962C8B-B14F-4D97-AF65-F5344CB8AC3E}">
        <p14:creationId xmlns:p14="http://schemas.microsoft.com/office/powerpoint/2010/main" val="802680317"/>
      </p:ext>
    </p:extLst>
  </p:cSld>
</p:sld>
</file>

<file path=ppt/slides/slide9.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3BA9CF11-34B5-4A90-A819-302986BE52FF}"/>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Six-person delivery ownership</a:t>
            </a:r>
          </a:p>
        </p:txBody>
      </p:sp>
      <p:graphicFrame>
        <p:nvGraphicFramePr>
          <p:cNvPr id="4" name=""/>
          <p:cNvGraphicFramePr/>
          <p:nvPr/>
        </p:nvGraphicFramePr>
        <p:xfrm>
          <a:off xmlns:a="http://schemas.openxmlformats.org/drawingml/2006/main" x="609600" y="1543050"/>
          <a:ext xmlns:a="http://schemas.openxmlformats.org/drawingml/2006/main" cx="10972800" cy="4381500"/>
        </p:xfrm>
        <a:graphic xmlns:a="http://schemas.openxmlformats.org/drawingml/2006/main">
          <a:graphicData uri="http://schemas.openxmlformats.org/drawingml/2006/table">
            <a:tbl>
              <a:tblPr/>
              <a:tblGrid>
                <a:gridCol w="1714500"/>
                <a:gridCol w="3333750"/>
                <a:gridCol w="5924550"/>
              </a:tblGrid>
              <a:tr h="625929">
                <a:tc>
                  <a:txBody>
                    <a:bodyPr/>
                    <a:lstStyle/>
                    <a:p>
                      <a:r>
                        <a:rPr sz="1800" b="1">
                          <a:solidFill>
                            <a:srgbClr val="8AF4CB"/>
                          </a:solidFill>
                          <a:latin typeface="Arial"/>
                          <a:ea typeface="Arial"/>
                          <a:cs typeface="Arial"/>
                        </a:rPr>
                        <a:t>Owner</a:t>
                      </a:r>
                    </a:p>
                  </a:txBody>
                  <a:tcPr marL="152400" marR="152400" marT="114300" marB="114300">
                    <a:solidFill>
                      <a:srgbClr val="203830"/>
                    </a:solidFill>
                  </a:tcPr>
                </a:tc>
                <a:tc>
                  <a:txBody>
                    <a:bodyPr/>
                    <a:lstStyle/>
                    <a:p>
                      <a:r>
                        <a:rPr sz="1800" b="1">
                          <a:solidFill>
                            <a:srgbClr val="8AF4CB"/>
                          </a:solidFill>
                          <a:latin typeface="Arial"/>
                          <a:ea typeface="Arial"/>
                          <a:cs typeface="Arial"/>
                        </a:rPr>
                        <a:t>Responsibility</a:t>
                      </a:r>
                    </a:p>
                  </a:txBody>
                  <a:tcPr marL="152400" marR="152400" marT="114300" marB="114300">
                    <a:solidFill>
                      <a:srgbClr val="203830"/>
                    </a:solidFill>
                  </a:tcPr>
                </a:tc>
                <a:tc>
                  <a:txBody>
                    <a:bodyPr/>
                    <a:lstStyle/>
                    <a:p>
                      <a:r>
                        <a:rPr sz="1800" b="1">
                          <a:solidFill>
                            <a:srgbClr val="8AF4CB"/>
                          </a:solidFill>
                          <a:latin typeface="Arial"/>
                          <a:ea typeface="Arial"/>
                          <a:cs typeface="Arial"/>
                        </a:rPr>
                        <a:t>Next deliverable</a:t>
                      </a:r>
                    </a:p>
                  </a:txBody>
                  <a:tcPr marL="152400" marR="152400" marT="114300" marB="114300">
                    <a:solidFill>
                      <a:srgbClr val="203830"/>
                    </a:solidFill>
                  </a:tcPr>
                </a:tc>
              </a:tr>
              <a:tr h="625929">
                <a:tc>
                  <a:txBody>
                    <a:bodyPr/>
                    <a:lstStyle/>
                    <a:p>
                      <a:r>
                        <a:rPr sz="1800">
                          <a:solidFill>
                            <a:srgbClr val="E5F1EC"/>
                          </a:solidFill>
                          <a:latin typeface="Arial"/>
                          <a:ea typeface="Arial"/>
                          <a:cs typeface="Arial"/>
                        </a:rPr>
                        <a:t>Member 1</a:t>
                      </a:r>
                    </a:p>
                  </a:txBody>
                  <a:tcPr marL="152400" marR="152400" marT="114300" marB="114300">
                    <a:solidFill>
                      <a:srgbClr val="0C171D"/>
                    </a:solidFill>
                  </a:tcPr>
                </a:tc>
                <a:tc>
                  <a:txBody>
                    <a:bodyPr/>
                    <a:lstStyle/>
                    <a:p>
                      <a:r>
                        <a:rPr sz="1800">
                          <a:solidFill>
                            <a:srgbClr val="E5F1EC"/>
                          </a:solidFill>
                          <a:latin typeface="Arial"/>
                          <a:ea typeface="Arial"/>
                          <a:cs typeface="Arial"/>
                        </a:rPr>
                        <a:t>Routing</a:t>
                      </a:r>
                    </a:p>
                  </a:txBody>
                  <a:tcPr marL="152400" marR="152400" marT="114300" marB="114300">
                    <a:solidFill>
                      <a:srgbClr val="0C171D"/>
                    </a:solidFill>
                  </a:tcPr>
                </a:tc>
                <a:tc>
                  <a:txBody>
                    <a:bodyPr/>
                    <a:lstStyle/>
                    <a:p>
                      <a:r>
                        <a:rPr sz="1800">
                          <a:solidFill>
                            <a:srgbClr val="E5F1EC"/>
                          </a:solidFill>
                          <a:latin typeface="Arial"/>
                          <a:ea typeface="Arial"/>
                          <a:cs typeface="Arial"/>
                        </a:rPr>
                        <a:t>Edge snapping and turn restrictions</a:t>
                      </a:r>
                    </a:p>
                  </a:txBody>
                  <a:tcPr marL="152400" marR="152400" marT="114300" marB="114300">
                    <a:solidFill>
                      <a:srgbClr val="0C171D"/>
                    </a:solidFill>
                  </a:tcPr>
                </a:tc>
              </a:tr>
              <a:tr h="625929">
                <a:tc>
                  <a:txBody>
                    <a:bodyPr/>
                    <a:lstStyle/>
                    <a:p>
                      <a:r>
                        <a:rPr sz="1800">
                          <a:solidFill>
                            <a:srgbClr val="E5F1EC"/>
                          </a:solidFill>
                          <a:latin typeface="Arial"/>
                          <a:ea typeface="Arial"/>
                          <a:cs typeface="Arial"/>
                        </a:rPr>
                        <a:t>Member 2</a:t>
                      </a:r>
                    </a:p>
                  </a:txBody>
                  <a:tcPr marL="152400" marR="152400" marT="114300" marB="114300">
                    <a:solidFill>
                      <a:srgbClr val="0C171D"/>
                    </a:solidFill>
                  </a:tcPr>
                </a:tc>
                <a:tc>
                  <a:txBody>
                    <a:bodyPr/>
                    <a:lstStyle/>
                    <a:p>
                      <a:r>
                        <a:rPr sz="1800">
                          <a:solidFill>
                            <a:srgbClr val="E5F1EC"/>
                          </a:solidFill>
                          <a:latin typeface="Arial"/>
                          <a:ea typeface="Arial"/>
                          <a:cs typeface="Arial"/>
                        </a:rPr>
                        <a:t>Data science</a:t>
                      </a:r>
                    </a:p>
                  </a:txBody>
                  <a:tcPr marL="152400" marR="152400" marT="114300" marB="114300">
                    <a:solidFill>
                      <a:srgbClr val="0C171D"/>
                    </a:solidFill>
                  </a:tcPr>
                </a:tc>
                <a:tc>
                  <a:txBody>
                    <a:bodyPr/>
                    <a:lstStyle/>
                    <a:p>
                      <a:r>
                        <a:rPr sz="1800">
                          <a:solidFill>
                            <a:srgbClr val="E5F1EC"/>
                          </a:solidFill>
                          <a:latin typeface="Arial"/>
                          <a:ea typeface="Arial"/>
                          <a:cs typeface="Arial"/>
                        </a:rPr>
                        <a:t>Reviewed hazards and ML target</a:t>
                      </a:r>
                    </a:p>
                  </a:txBody>
                  <a:tcPr marL="152400" marR="152400" marT="114300" marB="114300">
                    <a:solidFill>
                      <a:srgbClr val="0C171D"/>
                    </a:solidFill>
                  </a:tcPr>
                </a:tc>
              </a:tr>
              <a:tr h="625929">
                <a:tc>
                  <a:txBody>
                    <a:bodyPr/>
                    <a:lstStyle/>
                    <a:p>
                      <a:r>
                        <a:rPr sz="1800">
                          <a:solidFill>
                            <a:srgbClr val="E5F1EC"/>
                          </a:solidFill>
                          <a:latin typeface="Arial"/>
                          <a:ea typeface="Arial"/>
                          <a:cs typeface="Arial"/>
                        </a:rPr>
                        <a:t>Member 3</a:t>
                      </a:r>
                    </a:p>
                  </a:txBody>
                  <a:tcPr marL="152400" marR="152400" marT="114300" marB="114300">
                    <a:solidFill>
                      <a:srgbClr val="0C171D"/>
                    </a:solidFill>
                  </a:tcPr>
                </a:tc>
                <a:tc>
                  <a:txBody>
                    <a:bodyPr/>
                    <a:lstStyle/>
                    <a:p>
                      <a:r>
                        <a:rPr sz="1800">
                          <a:solidFill>
                            <a:srgbClr val="E5F1EC"/>
                          </a:solidFill>
                          <a:latin typeface="Arial"/>
                          <a:ea typeface="Arial"/>
                          <a:cs typeface="Arial"/>
                        </a:rPr>
                        <a:t>API</a:t>
                      </a:r>
                    </a:p>
                  </a:txBody>
                  <a:tcPr marL="152400" marR="152400" marT="114300" marB="114300">
                    <a:solidFill>
                      <a:srgbClr val="0C171D"/>
                    </a:solidFill>
                  </a:tcPr>
                </a:tc>
                <a:tc>
                  <a:txBody>
                    <a:bodyPr/>
                    <a:lstStyle/>
                    <a:p>
                      <a:r>
                        <a:rPr sz="1800">
                          <a:solidFill>
                            <a:srgbClr val="E5F1EC"/>
                          </a:solidFill>
                          <a:latin typeface="Arial"/>
                          <a:ea typeface="Arial"/>
                          <a:cs typeface="Arial"/>
                        </a:rPr>
                        <a:t>Authenticated incident workflow</a:t>
                      </a:r>
                    </a:p>
                  </a:txBody>
                  <a:tcPr marL="152400" marR="152400" marT="114300" marB="114300">
                    <a:solidFill>
                      <a:srgbClr val="0C171D"/>
                    </a:solidFill>
                  </a:tcPr>
                </a:tc>
              </a:tr>
              <a:tr h="625929">
                <a:tc>
                  <a:txBody>
                    <a:bodyPr/>
                    <a:lstStyle/>
                    <a:p>
                      <a:r>
                        <a:rPr sz="1800">
                          <a:solidFill>
                            <a:srgbClr val="E5F1EC"/>
                          </a:solidFill>
                          <a:latin typeface="Arial"/>
                          <a:ea typeface="Arial"/>
                          <a:cs typeface="Arial"/>
                        </a:rPr>
                        <a:t>Member 4</a:t>
                      </a:r>
                    </a:p>
                  </a:txBody>
                  <a:tcPr marL="152400" marR="152400" marT="114300" marB="114300">
                    <a:solidFill>
                      <a:srgbClr val="0C171D"/>
                    </a:solidFill>
                  </a:tcPr>
                </a:tc>
                <a:tc>
                  <a:txBody>
                    <a:bodyPr/>
                    <a:lstStyle/>
                    <a:p>
                      <a:r>
                        <a:rPr sz="1800">
                          <a:solidFill>
                            <a:srgbClr val="E5F1EC"/>
                          </a:solidFill>
                          <a:latin typeface="Arial"/>
                          <a:ea typeface="Arial"/>
                          <a:cs typeface="Arial"/>
                        </a:rPr>
                        <a:t>Frontend / R3F</a:t>
                      </a:r>
                    </a:p>
                  </a:txBody>
                  <a:tcPr marL="152400" marR="152400" marT="114300" marB="114300">
                    <a:solidFill>
                      <a:srgbClr val="0C171D"/>
                    </a:solidFill>
                  </a:tcPr>
                </a:tc>
                <a:tc>
                  <a:txBody>
                    <a:bodyPr/>
                    <a:lstStyle/>
                    <a:p>
                      <a:r>
                        <a:rPr sz="1800">
                          <a:solidFill>
                            <a:srgbClr val="E5F1EC"/>
                          </a:solidFill>
                          <a:latin typeface="Arial"/>
                          <a:ea typeface="Arial"/>
                          <a:cs typeface="Arial"/>
                        </a:rPr>
                        <a:t>Device and interaction validation</a:t>
                      </a:r>
                    </a:p>
                  </a:txBody>
                  <a:tcPr marL="152400" marR="152400" marT="114300" marB="114300">
                    <a:solidFill>
                      <a:srgbClr val="0C171D"/>
                    </a:solidFill>
                  </a:tcPr>
                </a:tc>
              </a:tr>
              <a:tr h="625929">
                <a:tc>
                  <a:txBody>
                    <a:bodyPr/>
                    <a:lstStyle/>
                    <a:p>
                      <a:r>
                        <a:rPr sz="1800">
                          <a:solidFill>
                            <a:srgbClr val="E5F1EC"/>
                          </a:solidFill>
                          <a:latin typeface="Arial"/>
                          <a:ea typeface="Arial"/>
                          <a:cs typeface="Arial"/>
                        </a:rPr>
                        <a:t>Member 5</a:t>
                      </a:r>
                    </a:p>
                  </a:txBody>
                  <a:tcPr marL="152400" marR="152400" marT="114300" marB="114300">
                    <a:solidFill>
                      <a:srgbClr val="0C171D"/>
                    </a:solidFill>
                  </a:tcPr>
                </a:tc>
                <a:tc>
                  <a:txBody>
                    <a:bodyPr/>
                    <a:lstStyle/>
                    <a:p>
                      <a:r>
                        <a:rPr sz="1800">
                          <a:solidFill>
                            <a:srgbClr val="E5F1EC"/>
                          </a:solidFill>
                          <a:latin typeface="Arial"/>
                          <a:ea typeface="Arial"/>
                          <a:cs typeface="Arial"/>
                        </a:rPr>
                        <a:t>Database / deployment</a:t>
                      </a:r>
                    </a:p>
                  </a:txBody>
                  <a:tcPr marL="152400" marR="152400" marT="114300" marB="114300">
                    <a:solidFill>
                      <a:srgbClr val="0C171D"/>
                    </a:solidFill>
                  </a:tcPr>
                </a:tc>
                <a:tc>
                  <a:txBody>
                    <a:bodyPr/>
                    <a:lstStyle/>
                    <a:p>
                      <a:r>
                        <a:rPr sz="1800">
                          <a:solidFill>
                            <a:srgbClr val="E5F1EC"/>
                          </a:solidFill>
                          <a:latin typeface="Arial"/>
                          <a:ea typeface="Arial"/>
                          <a:cs typeface="Arial"/>
                        </a:rPr>
                        <a:t>Supabase round-trip and VM rollout</a:t>
                      </a:r>
                    </a:p>
                  </a:txBody>
                  <a:tcPr marL="152400" marR="152400" marT="114300" marB="114300">
                    <a:solidFill>
                      <a:srgbClr val="0C171D"/>
                    </a:solidFill>
                  </a:tcPr>
                </a:tc>
              </a:tr>
              <a:tr h="625929">
                <a:tc>
                  <a:txBody>
                    <a:bodyPr/>
                    <a:lstStyle/>
                    <a:p>
                      <a:r>
                        <a:rPr sz="1800">
                          <a:solidFill>
                            <a:srgbClr val="E5F1EC"/>
                          </a:solidFill>
                          <a:latin typeface="Arial"/>
                          <a:ea typeface="Arial"/>
                          <a:cs typeface="Arial"/>
                        </a:rPr>
                        <a:t>Member 6</a:t>
                      </a:r>
                    </a:p>
                  </a:txBody>
                  <a:tcPr marL="152400" marR="152400" marT="114300" marB="114300">
                    <a:solidFill>
                      <a:srgbClr val="0C171D"/>
                    </a:solidFill>
                  </a:tcPr>
                </a:tc>
                <a:tc>
                  <a:txBody>
                    <a:bodyPr/>
                    <a:lstStyle/>
                    <a:p>
                      <a:r>
                        <a:rPr sz="1800">
                          <a:solidFill>
                            <a:srgbClr val="E5F1EC"/>
                          </a:solidFill>
                          <a:latin typeface="Arial"/>
                          <a:ea typeface="Arial"/>
                          <a:cs typeface="Arial"/>
                        </a:rPr>
                        <a:t>Validation / pitch</a:t>
                      </a:r>
                    </a:p>
                  </a:txBody>
                  <a:tcPr marL="152400" marR="152400" marT="114300" marB="114300">
                    <a:solidFill>
                      <a:srgbClr val="0C171D"/>
                    </a:solidFill>
                  </a:tcPr>
                </a:tc>
                <a:tc>
                  <a:txBody>
                    <a:bodyPr/>
                    <a:lstStyle/>
                    <a:p>
                      <a:r>
                        <a:rPr sz="1800">
                          <a:solidFill>
                            <a:srgbClr val="E5F1EC"/>
                          </a:solidFill>
                          <a:latin typeface="Arial"/>
                          <a:ea typeface="Arial"/>
                          <a:cs typeface="Arial"/>
                        </a:rPr>
                        <a:t>Fixed demo and evidence review</a:t>
                      </a:r>
                    </a:p>
                  </a:txBody>
                  <a:tcPr marL="152400" marR="152400" marT="114300" marB="114300">
                    <a:solidFill>
                      <a:srgbClr val="0C171D"/>
                    </a:solidFill>
                  </a:tcPr>
                </a:tc>
              </a:tr>
            </a:tbl>
          </a:graphicData>
        </a:graphic>
      </p:graphicFrame>
    </p:spTree>
    <p:extLst>
      <p:ext uri="{BB962C8B-B14F-4D97-AF65-F5344CB8AC3E}">
        <p14:creationId xmlns:p14="http://schemas.microsoft.com/office/powerpoint/2010/main" val="1688358709"/>
      </p:ext>
    </p:extLst>
  </p:cSld>
</p:sld>
</file>

<file path=ppt/slides/slide10.xml><?xml version="1.0" encoding="utf-8"?>
<p:sld xmlns:p="http://schemas.openxmlformats.org/presentationml/2006/main">
  <p:cSld>
    <p:bg>
      <p:bgPr>
        <a:solidFill xmlns:a="http://schemas.openxmlformats.org/drawingml/2006/main">
          <a:srgbClr val="0C171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923D008-E1E1-4A35-91FE-05386F43A260}"/>
              </a:ext>
            </a:extLst>
          </p:cNvPr>
          <p:cNvSpPr>
            <a:spLocks xmlns:a="http://schemas.openxmlformats.org/drawingml/2006/main" noGrp="1"/>
          </p:cNvSpPr>
          <p:nvPr/>
        </p:nvSpPr>
        <p:spPr>
          <a:xfrm xmlns:a="http://schemas.openxmlformats.org/drawingml/2006/main">
            <a:off x="609600" y="419100"/>
            <a:ext cx="109728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E5F1EC"/>
                </a:solidFill>
                <a:latin typeface="Arial"/>
                <a:ea typeface="Arial"/>
                <a:cs typeface="Arial"/>
              </a:defRPr>
            </a:pPr>
            <a:r>
              <a:rPr sz="3225" b="1">
                <a:solidFill>
                  <a:srgbClr val="E5F1EC"/>
                </a:solidFill>
                <a:latin typeface="Arial"/>
                <a:ea typeface="Arial"/>
                <a:cs typeface="Arial"/>
              </a:rPr>
              <a:t>Next milestone: a verified corridor pilot</a:t>
            </a:r>
          </a:p>
        </p:txBody>
      </p:sp>
      <p:sp>
        <p:nvSpPr>
          <p:cNvPr id="2" name="">
            <a:extLst xmlns:a="http://schemas.openxmlformats.org/drawingml/2006/main">
              <a:ext uri="{FF2B5EF4-FFF2-40B4-BE49-F238E27FC236}">
                <a16:creationId xmlns:a16="http://schemas.microsoft.com/office/drawing/2014/main" id="{BA5ECA80-19A9-4BC3-AE7A-4535E2BE29CD}"/>
              </a:ext>
            </a:extLst>
          </p:cNvPr>
          <p:cNvSpPr>
            <a:spLocks xmlns:a="http://schemas.openxmlformats.org/drawingml/2006/main" noGrp="1"/>
          </p:cNvSpPr>
          <p:nvPr/>
        </p:nvSpPr>
        <p:spPr>
          <a:xfrm xmlns:a="http://schemas.openxmlformats.org/drawingml/2006/main">
            <a:off x="609600" y="1619250"/>
            <a:ext cx="10858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8AF4CB"/>
                </a:solidFill>
                <a:latin typeface="Arial"/>
                <a:ea typeface="Arial"/>
                <a:cs typeface="Arial"/>
              </a:defRPr>
            </a:pPr>
            <a:r>
              <a:rPr sz="3225" b="1">
                <a:solidFill>
                  <a:srgbClr val="8AF4CB"/>
                </a:solidFill>
                <a:latin typeface="Arial"/>
                <a:ea typeface="Arial"/>
                <a:cs typeface="Arial"/>
              </a:rPr>
              <a:t>A working local foundation is ready.</a:t>
            </a:r>
          </a:p>
        </p:txBody>
      </p:sp>
      <p:sp>
        <p:nvSpPr>
          <p:cNvPr id="3" name="">
            <a:extLst xmlns:a="http://schemas.openxmlformats.org/drawingml/2006/main">
              <a:ext uri="{FF2B5EF4-FFF2-40B4-BE49-F238E27FC236}">
                <a16:creationId xmlns:a16="http://schemas.microsoft.com/office/drawing/2014/main" id="{AEF4131D-854A-4DB3-B9C2-8636DBC70CC7}"/>
              </a:ext>
            </a:extLst>
          </p:cNvPr>
          <p:cNvSpPr>
            <a:spLocks xmlns:a="http://schemas.openxmlformats.org/drawingml/2006/main" noGrp="1"/>
          </p:cNvSpPr>
          <p:nvPr/>
        </p:nvSpPr>
        <p:spPr>
          <a:xfrm xmlns:a="http://schemas.openxmlformats.org/drawingml/2006/main">
            <a:off x="609600" y="2819400"/>
            <a:ext cx="10858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E5F1EC"/>
                </a:solidFill>
                <a:latin typeface="Arial"/>
                <a:ea typeface="Arial"/>
                <a:cs typeface="Arial"/>
              </a:defRPr>
            </a:pPr>
            <a:r>
              <a:rPr sz="2250" b="0">
                <a:solidFill>
                  <a:srgbClr val="E5F1EC"/>
                </a:solidFill>
                <a:latin typeface="Arial"/>
                <a:ea typeface="Arial"/>
                <a:cs typeface="Arial"/>
              </a:rPr>
              <a:t>The next release should connect reviewed hazard observations</a:t>
            </a:r>
          </a:p>
          <a:p xmlns:a="http://schemas.openxmlformats.org/drawingml/2006/main">
            <a:pPr>
              <a:defRPr sz="2250" b="0">
                <a:solidFill>
                  <a:srgbClr val="E5F1EC"/>
                </a:solidFill>
                <a:latin typeface="Arial"/>
                <a:ea typeface="Arial"/>
                <a:cs typeface="Arial"/>
              </a:defRPr>
            </a:pPr>
            <a:r>
              <a:rPr sz="2250" b="0">
                <a:solidFill>
                  <a:srgbClr val="E5F1EC"/>
                </a:solidFill>
                <a:latin typeface="Arial"/>
                <a:ea typeface="Arial"/>
                <a:cs typeface="Arial"/>
              </a:rPr>
              <a:t>to a versioned graph and demonstrate an authenticated closure report.</a:t>
            </a:r>
          </a:p>
        </p:txBody>
      </p:sp>
      <p:sp>
        <p:nvSpPr>
          <p:cNvPr id="4" name="">
            <a:extLst xmlns:a="http://schemas.openxmlformats.org/drawingml/2006/main">
              <a:ext uri="{FF2B5EF4-FFF2-40B4-BE49-F238E27FC236}">
                <a16:creationId xmlns:a16="http://schemas.microsoft.com/office/drawing/2014/main" id="{289B89B8-6CFB-4E46-A766-566773D336AC}"/>
              </a:ext>
            </a:extLst>
          </p:cNvPr>
          <p:cNvSpPr>
            <a:spLocks xmlns:a="http://schemas.openxmlformats.org/drawingml/2006/main" noGrp="1"/>
          </p:cNvSpPr>
          <p:nvPr/>
        </p:nvSpPr>
        <p:spPr>
          <a:xfrm xmlns:a="http://schemas.openxmlformats.org/drawingml/2006/main">
            <a:off x="609600" y="4724400"/>
            <a:ext cx="10858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A6BCBA"/>
                </a:solidFill>
                <a:latin typeface="Arial"/>
                <a:ea typeface="Arial"/>
                <a:cs typeface="Arial"/>
              </a:defRPr>
            </a:pPr>
            <a:r>
              <a:rPr sz="1875" b="0">
                <a:solidFill>
                  <a:srgbClr val="A6BCBA"/>
                </a:solidFill>
                <a:latin typeface="Arial"/>
                <a:ea typeface="Arial"/>
                <a:cs typeface="Arial"/>
              </a:rPr>
              <a:t>Team inputs: official SIH scope, corridor, deadline and domain reviewer.</a:t>
            </a:r>
          </a:p>
          <a:p xmlns:a="http://schemas.openxmlformats.org/drawingml/2006/main">
            <a:pPr>
              <a:defRPr sz="1875" b="0">
                <a:solidFill>
                  <a:srgbClr val="A6BCBA"/>
                </a:solidFill>
                <a:latin typeface="Arial"/>
                <a:ea typeface="Arial"/>
                <a:cs typeface="Arial"/>
              </a:defRPr>
            </a:pPr>
            <a:r>
              <a:rPr sz="1875" b="0">
                <a:solidFill>
                  <a:srgbClr val="A6BCBA"/>
                </a:solidFill>
                <a:latin typeface="Arial"/>
                <a:ea typeface="Arial"/>
                <a:cs typeface="Arial"/>
              </a:rPr>
              <a:t>Deployment inputs: Supabase project, VM/K8s access and domain.</a:t>
            </a:r>
          </a:p>
        </p:txBody>
      </p:sp>
    </p:spTree>
    <p:extLst>
      <p:ext uri="{BB962C8B-B14F-4D97-AF65-F5344CB8AC3E}">
        <p14:creationId xmlns:p14="http://schemas.microsoft.com/office/powerpoint/2010/main" val="8335577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2026-09-06T12:29:40.7640000Z</dcterms:created>
  <dcterms:modified xsi:type="dcterms:W3CDTF">2026-09-06T12:29:40.7640000Z</dcterms:modified>
</coreProperties>
</file>