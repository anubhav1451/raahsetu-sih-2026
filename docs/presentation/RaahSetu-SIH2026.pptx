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ORSIH/work/sih-decks/sih-top-str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475488"/>
          </a:xfrm>
          <a:prstGeom prst="rect">
            <a:avLst/>
          </a:prstGeom>
        </p:spPr>
      </p:pic>
      <p:pic>
        <p:nvPicPr>
          <p:cNvPr id="3" name="Image 1" descr="D:/FORSIH/work/sih-decks/sih-emblem-tigh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35240" y="822960"/>
            <a:ext cx="3749040" cy="39502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777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INDIA HACKATHON 2026</a:t>
            </a:r>
            <a:endParaRPr lang="en-US" sz="2200" dirty="0"/>
          </a:p>
        </p:txBody>
      </p:sp>
      <p:sp>
        <p:nvSpPr>
          <p:cNvPr id="5" name="Text 1"/>
          <p:cNvSpPr/>
          <p:nvPr/>
        </p:nvSpPr>
        <p:spPr>
          <a:xfrm>
            <a:off x="502920" y="1325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RaahSetu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502920" y="251460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 –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3886200" y="25146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SIH26002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02920" y="302666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 –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3886200" y="302666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Smart Logistics &amp; Accessibility Intelligence Platform for North Eastern Region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02920" y="3776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–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3886200" y="37764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Management / Smart Automation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02920" y="4288536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 –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886200" y="4288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02920" y="480060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(Registered on portal) –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886200" y="48006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your Team Name here]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02920" y="544982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Title: RaahSetu — Explainable Risk-Aware Logistics Routing for North-East India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0" y="6345936"/>
            <a:ext cx="12188952" cy="5120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18" name="Text 14"/>
          <p:cNvSpPr/>
          <p:nvPr/>
        </p:nvSpPr>
        <p:spPr>
          <a:xfrm>
            <a:off x="7616952" y="6345936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| RaahSetu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RaahSetu: Geospatial Logistics Intelligence Platform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24128"/>
            <a:ext cx="914400" cy="41148"/>
          </a:xfrm>
          <a:prstGeom prst="rect">
            <a:avLst/>
          </a:prstGeom>
          <a:solidFill>
            <a:srgbClr val="EA871D"/>
          </a:solidFill>
          <a:ln/>
        </p:spPr>
      </p:sp>
      <p:sp>
        <p:nvSpPr>
          <p:cNvPr id="4" name="Shape 2"/>
          <p:cNvSpPr/>
          <p:nvPr/>
        </p:nvSpPr>
        <p:spPr>
          <a:xfrm>
            <a:off x="1417320" y="1024128"/>
            <a:ext cx="914400" cy="41148"/>
          </a:xfrm>
          <a:prstGeom prst="rect">
            <a:avLst/>
          </a:prstGeom>
          <a:solidFill>
            <a:srgbClr val="1E8C3E"/>
          </a:solidFill>
          <a:ln/>
        </p:spPr>
      </p:sp>
      <p:sp>
        <p:nvSpPr>
          <p:cNvPr id="5" name="Shape 3"/>
          <p:cNvSpPr/>
          <p:nvPr/>
        </p:nvSpPr>
        <p:spPr>
          <a:xfrm>
            <a:off x="2331720" y="1024128"/>
            <a:ext cx="914400" cy="41148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80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(Describe your Idea/Solution/Prototype)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71907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explanation: </a:t>
            </a:r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RaahSetu is an operations dashboard with a custom Risk-Aware A* routing engine. Instead of only finding the shortest path, it avoids verified landslide blackspots, flood zones and poor road surfaces — and shows the evidence behind every route decision.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57860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addresses the problem: </a:t>
            </a:r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apps route heavy logistics into danger zones in the North-East because they optimise only for speed. RaahSetu quantifies the time-versus-safety tradeoff, respects vehicle limits, and raises isolation alerts for SDRF/NDRF when the only access road to a district is verified as blocked.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35661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and uniqueness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3950208"/>
            <a:ext cx="11155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❖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Google-Maps wrapper: open OSMnx graph networks with directed parallel edges preserved.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❖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enters the cost function itself: c(e) = t(e) × [1 + 4λ·r(e)] — admissible A* stays provably optimal for every operator setting.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❖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Evidence-first closures: field reports carry corroboration counts; only reviewer-verified closures change routing.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❖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field reporting (IndexedDB queue + photo evidence) with automatic sync for low-connectivity corridors.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5806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today: 8-state OSM data acquired (273,494 road ways), Guwahati corridor pilot on 13,681 directed segments, 45 automated tests, 300 A*/Dijkstra oracle checks.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0" y="6345936"/>
            <a:ext cx="12188952" cy="5120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/>
          <p:nvPr/>
        </p:nvSpPr>
        <p:spPr>
          <a:xfrm>
            <a:off x="7616952" y="6345936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| RaahSetu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24128"/>
            <a:ext cx="914400" cy="41148"/>
          </a:xfrm>
          <a:prstGeom prst="rect">
            <a:avLst/>
          </a:prstGeom>
          <a:solidFill>
            <a:srgbClr val="EA871D"/>
          </a:solidFill>
          <a:ln/>
        </p:spPr>
      </p:sp>
      <p:sp>
        <p:nvSpPr>
          <p:cNvPr id="4" name="Shape 2"/>
          <p:cNvSpPr/>
          <p:nvPr/>
        </p:nvSpPr>
        <p:spPr>
          <a:xfrm>
            <a:off x="1417320" y="1024128"/>
            <a:ext cx="914400" cy="41148"/>
          </a:xfrm>
          <a:prstGeom prst="rect">
            <a:avLst/>
          </a:prstGeom>
          <a:solidFill>
            <a:srgbClr val="1E8C3E"/>
          </a:solidFill>
          <a:ln/>
        </p:spPr>
      </p:sp>
      <p:sp>
        <p:nvSpPr>
          <p:cNvPr id="5" name="Shape 3"/>
          <p:cNvSpPr/>
          <p:nvPr/>
        </p:nvSpPr>
        <p:spPr>
          <a:xfrm>
            <a:off x="2331720" y="1024128"/>
            <a:ext cx="914400" cy="41148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9844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to be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68249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240280" y="1682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TypeScript, React Three Fiber (WebGL 3D terrain), installable PWA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34086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240280" y="234086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3.12, FastAPI, OSMnx (OpenStreetMap graphing)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9992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240280" y="2999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PostgreSQL + PostGIS spatial engine, row-level security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240280" y="36576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Docker, Kubernetes on cloud VMs, versioned graph storage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129844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and process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675120" y="1719072"/>
            <a:ext cx="4983480" cy="786384"/>
          </a:xfrm>
          <a:prstGeom prst="rect">
            <a:avLst/>
          </a:prstGeom>
          <a:solidFill>
            <a:srgbClr val="F2F7FC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7830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Journey input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12280" y="2048256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Origin, destination, vehicle profile (heavy / emergency / light)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006840" y="24871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75120" y="2743200"/>
            <a:ext cx="4983480" cy="786384"/>
          </a:xfrm>
          <a:prstGeom prst="rect">
            <a:avLst/>
          </a:prstGeom>
          <a:solidFill>
            <a:srgbClr val="F2F7FC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80720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Hazard + weather query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12280" y="3072384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queries PostGIS for verified hazards, closures and live Open-Meteo weather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006840" y="3511296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3767328"/>
            <a:ext cx="4983480" cy="786384"/>
          </a:xfrm>
          <a:prstGeom prst="rect">
            <a:avLst/>
          </a:prstGeom>
          <a:solidFill>
            <a:srgbClr val="F2F7FC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12280" y="383133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Risk-A* computation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12280" y="40965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weights penalise hazardous segments; closures and vehicle limits hard-excluded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006840" y="453542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675120" y="4791456"/>
            <a:ext cx="4983480" cy="786384"/>
          </a:xfrm>
          <a:prstGeom prst="rect">
            <a:avLst/>
          </a:prstGeom>
          <a:solidFill>
            <a:srgbClr val="F2F7FC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12280" y="4855464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Route rendering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12280" y="512064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vs risk-aware paths rendered on the 3D terrain dashboard with evidence panels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" y="587044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correctness: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 A* matches an independent Dijkstra baseline on 300 randomized vehicle/weather scenarios; API contract, security and closure workflows covered by 45 automated tests.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6345936"/>
            <a:ext cx="12188952" cy="5120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33" name="Text 31"/>
          <p:cNvSpPr/>
          <p:nvPr/>
        </p:nvSpPr>
        <p:spPr>
          <a:xfrm>
            <a:off x="7616952" y="6345936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| RaahSetu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and Viability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24128"/>
            <a:ext cx="914400" cy="41148"/>
          </a:xfrm>
          <a:prstGeom prst="rect">
            <a:avLst/>
          </a:prstGeom>
          <a:solidFill>
            <a:srgbClr val="EA871D"/>
          </a:solidFill>
          <a:ln/>
        </p:spPr>
      </p:sp>
      <p:sp>
        <p:nvSpPr>
          <p:cNvPr id="4" name="Shape 2"/>
          <p:cNvSpPr/>
          <p:nvPr/>
        </p:nvSpPr>
        <p:spPr>
          <a:xfrm>
            <a:off x="1417320" y="1024128"/>
            <a:ext cx="914400" cy="41148"/>
          </a:xfrm>
          <a:prstGeom prst="rect">
            <a:avLst/>
          </a:prstGeom>
          <a:solidFill>
            <a:srgbClr val="1E8C3E"/>
          </a:solidFill>
          <a:ln/>
        </p:spPr>
      </p:sp>
      <p:sp>
        <p:nvSpPr>
          <p:cNvPr id="5" name="Shape 3"/>
          <p:cNvSpPr/>
          <p:nvPr/>
        </p:nvSpPr>
        <p:spPr>
          <a:xfrm>
            <a:off x="2331720" y="1024128"/>
            <a:ext cx="914400" cy="41148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2588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feasibility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709928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❖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feasible and cost-effective: open-source GIS data (OpenStreetMap) and keyless weather (Open-Meteo) keep operating cost near zero for government scaling.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❖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database usage measured at ~51 MB on the free tier — raw map data stays in versioned files, only hazards, reviews and fleet state enter PostGIS.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❖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end-to-end workflow already proven on the cloud database: report → review → closure → alert → reroute → delivery tracking (14/14 steps).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301752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challenges and risks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3401568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❖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poor network connectivity across remote North-East corridors.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❖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3D WebGL rendering on outdated control-room computers.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❖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coordinate-level blackspot data is not publicly released for all states.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470916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 for overcoming these challenges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5093208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❖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PWA with service workers and IndexedDB offline queue; reports and photos sync automatically when connectivity returns.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❖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prefers-reduced-motion support, lazy-loaded 3D chunks and an SVG map fallback; UI is decoupled from the API so alerts work regardless of rendering.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❖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Honest-data architecture: unverified evidence is never auto-applied; eDAR/MoRTH access is the scaling path, with a reviewer workflow already shipped.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0" y="6345936"/>
            <a:ext cx="12188952" cy="5120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/>
          <p:nvPr/>
        </p:nvSpPr>
        <p:spPr>
          <a:xfrm>
            <a:off x="7616952" y="6345936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| RaahSetu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and Benefits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24128"/>
            <a:ext cx="914400" cy="41148"/>
          </a:xfrm>
          <a:prstGeom prst="rect">
            <a:avLst/>
          </a:prstGeom>
          <a:solidFill>
            <a:srgbClr val="EA871D"/>
          </a:solidFill>
          <a:ln/>
        </p:spPr>
      </p:sp>
      <p:sp>
        <p:nvSpPr>
          <p:cNvPr id="4" name="Shape 2"/>
          <p:cNvSpPr/>
          <p:nvPr/>
        </p:nvSpPr>
        <p:spPr>
          <a:xfrm>
            <a:off x="1417320" y="1024128"/>
            <a:ext cx="914400" cy="41148"/>
          </a:xfrm>
          <a:prstGeom prst="rect">
            <a:avLst/>
          </a:prstGeom>
          <a:solidFill>
            <a:srgbClr val="1E8C3E"/>
          </a:solidFill>
          <a:ln/>
        </p:spPr>
      </p:sp>
      <p:sp>
        <p:nvSpPr>
          <p:cNvPr id="5" name="Shape 3"/>
          <p:cNvSpPr/>
          <p:nvPr/>
        </p:nvSpPr>
        <p:spPr>
          <a:xfrm>
            <a:off x="2331720" y="1024128"/>
            <a:ext cx="914400" cy="41148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2588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impact on the target audience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7007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Empowers disaster-management authorities (NDRF/SDRF), border logistics and commercial fleets with terrain-aware routing intelligence, ensuring relief and essential supplies reach isolated districts safely — in a region where NH-6 alone is blocked 15–20 times each monsoon.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743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27432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heavy vehicles from traversing active landslide zones or damaged bridges; isolation alerts trigger relief coordination for cut-off districts.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584448"/>
            <a:ext cx="111556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7490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514600" y="3749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days of stranding and rework on corridors where logistics runs 20–30% costlier than mainland India; pre-computed viable alternatives cut delay and fuel penalties.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4590288"/>
            <a:ext cx="111556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47548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514600" y="475488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choke-point analysis supports predictive stockpiling before extreme weather; every closure decision is auditable with evidence and reviewer identity.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5596128"/>
            <a:ext cx="111556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58978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Beneficiaries: NDRF / SDRF relief fleets · Health-supply chains · Commercial heavy logistics · State transport authorities · Drivers on unsafe corridors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0" y="6345936"/>
            <a:ext cx="12188952" cy="5120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19" name="Text 17"/>
          <p:cNvSpPr/>
          <p:nvPr/>
        </p:nvSpPr>
        <p:spPr>
          <a:xfrm>
            <a:off x="7616952" y="6345936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| RaahSetu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and References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24128"/>
            <a:ext cx="914400" cy="41148"/>
          </a:xfrm>
          <a:prstGeom prst="rect">
            <a:avLst/>
          </a:prstGeom>
          <a:solidFill>
            <a:srgbClr val="EA871D"/>
          </a:solidFill>
          <a:ln/>
        </p:spPr>
      </p:sp>
      <p:sp>
        <p:nvSpPr>
          <p:cNvPr id="4" name="Shape 2"/>
          <p:cNvSpPr/>
          <p:nvPr/>
        </p:nvSpPr>
        <p:spPr>
          <a:xfrm>
            <a:off x="1417320" y="1024128"/>
            <a:ext cx="914400" cy="41148"/>
          </a:xfrm>
          <a:prstGeom prst="rect">
            <a:avLst/>
          </a:prstGeom>
          <a:solidFill>
            <a:srgbClr val="1E8C3E"/>
          </a:solidFill>
          <a:ln/>
        </p:spPr>
      </p:sp>
      <p:sp>
        <p:nvSpPr>
          <p:cNvPr id="5" name="Shape 3"/>
          <p:cNvSpPr/>
          <p:nvPr/>
        </p:nvSpPr>
        <p:spPr>
          <a:xfrm>
            <a:off x="2331720" y="1024128"/>
            <a:ext cx="914400" cy="41148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71600"/>
            <a:ext cx="2651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architecture validation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337560" y="1371600"/>
            <a:ext cx="6492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“Route Map AI: An Intelligent Route Optimization System Integrating GIS and Machine Learning” (2026) — validates GIS + risk-weighted pathfinding for safer trips under hazard conditions.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966960" y="137160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study,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2267712"/>
            <a:ext cx="112014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331720"/>
            <a:ext cx="2651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37560" y="2331720"/>
            <a:ext cx="6492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North-East zone extracts (ODbL 1.0); NASA Global Landslide Catalog (467 historical NER records with positional accuracy); Open-Meteo live weather.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966960" y="233172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openstreetmap.org · nasa.gov · open-meteo.com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3227832"/>
            <a:ext cx="112014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291840"/>
            <a:ext cx="2651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datasets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3291840"/>
            <a:ext cx="6492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of Road Transport and Highways (MoRTH) road-safety statistics and eDAR accident records — consulted for context; deliberately not mapped to specific roads without verified coordinates.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0" y="329184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morth.nic.in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112014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251960"/>
            <a:ext cx="2651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 framework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37560" y="4251960"/>
            <a:ext cx="6492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Graph-theory pathfinding in spatial networks: A* with admissible heuristics vs Dijkstra baseline — verified on 300 randomized cases across vehicle and weather settings.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66960" y="425196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(1959); Hart et al. (1968)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5148072"/>
            <a:ext cx="112014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5212080"/>
            <a:ext cx="2651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evidence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37560" y="5212080"/>
            <a:ext cx="6492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codebase with 45 automated tests, live cloud end-to-end workflow record, and reproducible route-evaluation suite (56 journeys).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966960" y="521208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49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open-source prototype (repository shared on request)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0" y="6345936"/>
            <a:ext cx="12188952" cy="5120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26" name="Text 24"/>
          <p:cNvSpPr/>
          <p:nvPr/>
        </p:nvSpPr>
        <p:spPr>
          <a:xfrm>
            <a:off x="7616952" y="6345936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| RaahSetu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RaahSetu - AI-Based Smart Logistics and Accessibility Intelligence Platform</dc:title>
  <dc:subject>PptxGenJS Presentation</dc:subject>
  <dc:creator>RaahSetu Team</dc:creator>
  <cp:lastModifiedBy>RaahSetu Team</cp:lastModifiedBy>
  <cp:revision>1</cp:revision>
  <dcterms:created xsi:type="dcterms:W3CDTF">2026-09-10T10:12:45Z</dcterms:created>
  <dcterms:modified xsi:type="dcterms:W3CDTF">2026-09-10T10:12:45Z</dcterms:modified>
</cp:coreProperties>
</file>