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d7aa05fff9e14ad3" /><Relationship Type="http://schemas.openxmlformats.org/officeDocument/2006/relationships/extended-properties" Target="/docProps/app.xml" Id="R54fc13b1822e4089" /><Relationship Type="http://schemas.openxmlformats.org/officeDocument/2006/relationships/officeDocument" Target="/ppt/presentation.xml" Id="Rbf96b3b087e24c9e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efb5615da62d4ed9"/>
  </p:sldMasterIdLst>
  <p:notesMasterIdLst>
    <p:notesMasterId xmlns:r="http://schemas.openxmlformats.org/officeDocument/2006/relationships" r:id="Rba787de8c09f4c37"/>
  </p:notesMasterIdLst>
  <p:sldIdLst>
    <p:sldId xmlns:r="http://schemas.openxmlformats.org/officeDocument/2006/relationships" id="256" r:id="R245b7823b3114a4d"/>
    <p:sldId xmlns:r="http://schemas.openxmlformats.org/officeDocument/2006/relationships" id="257" r:id="R57e1f14b545c4f9d"/>
    <p:sldId xmlns:r="http://schemas.openxmlformats.org/officeDocument/2006/relationships" id="258" r:id="Rb9caea6fe4004ede"/>
    <p:sldId xmlns:r="http://schemas.openxmlformats.org/officeDocument/2006/relationships" id="259" r:id="R4d50bb2d885441d2"/>
    <p:sldId xmlns:r="http://schemas.openxmlformats.org/officeDocument/2006/relationships" id="260" r:id="R2275a48d86d54a8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84b18372cbd4097" /><Relationship Type="http://schemas.openxmlformats.org/officeDocument/2006/relationships/slideMaster" Target="/ppt/slideMasters/slideMaster1.xml" Id="Refb5615da62d4ed9" /><Relationship Type="http://schemas.openxmlformats.org/officeDocument/2006/relationships/notesMaster" Target="/ppt/notesMasters/notesMaster1.xml" Id="Rba787de8c09f4c37" /><Relationship Type="http://schemas.openxmlformats.org/officeDocument/2006/relationships/presProps" Target="/ppt/presProps.xml" Id="Rf59c5093ee734441" /><Relationship Type="http://schemas.openxmlformats.org/officeDocument/2006/relationships/tableStyles" Target="/ppt/tableStyles.xml" Id="R593ebf20c1b94aa0" /><Relationship Type="http://schemas.openxmlformats.org/officeDocument/2006/relationships/slide" Target="/ppt/slides/slide1.xml" Id="R245b7823b3114a4d" /><Relationship Type="http://schemas.openxmlformats.org/officeDocument/2006/relationships/slide" Target="/ppt/slides/slide2.xml" Id="R57e1f14b545c4f9d" /><Relationship Type="http://schemas.openxmlformats.org/officeDocument/2006/relationships/slide" Target="/ppt/slides/slide3.xml" Id="Rb9caea6fe4004ede" /><Relationship Type="http://schemas.openxmlformats.org/officeDocument/2006/relationships/slide" Target="/ppt/slides/slide4.xml" Id="R4d50bb2d885441d2" /><Relationship Type="http://schemas.openxmlformats.org/officeDocument/2006/relationships/slide" Target="/ppt/slides/slide5.xml" Id="R2275a48d86d54a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7edfb7a18d94f8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581694ead074f9a" /><Relationship Type="http://schemas.openxmlformats.org/officeDocument/2006/relationships/notesMaster" Target="/ppt/notesMasters/notesMaster1.xml" Id="R799265b7886f418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29c1362476d4d56" /><Relationship Type="http://schemas.openxmlformats.org/officeDocument/2006/relationships/notesMaster" Target="/ppt/notesMasters/notesMaster1.xml" Id="R19ab01fdadd7439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847754bd88e14590" /><Relationship Type="http://schemas.openxmlformats.org/officeDocument/2006/relationships/notesMaster" Target="/ppt/notesMasters/notesMaster1.xml" Id="Re019d2fefe6440f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1037368f20d43c9" /><Relationship Type="http://schemas.openxmlformats.org/officeDocument/2006/relationships/notesMaster" Target="/ppt/notesMasters/notesMaster1.xml" Id="R440188ee8e984b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680212bc008b4a2b" /><Relationship Type="http://schemas.openxmlformats.org/officeDocument/2006/relationships/notesMaster" Target="/ppt/notesMasters/notesMaster1.xml" Id="R6c245c9a9fb5453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Submission deck for SIH26002. Team and ministry wording follows the project brief supplied by the team. Confirm the portal wording before submission.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Problem framing and solution language are based on the team project brief.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OSMnx: https://osmnx.readthedocs.io/  |  PostGIS: https://postgis.net/  |  FastAPI: https://fastapi.tiangolo.com/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use cases reflect the SIH26002 problem statement and the team’s target users.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separates what the prototype can demonstrate from inputs that need team or agency access.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0bf4e450e77433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a842528efe51400b" /><Relationship Type="http://schemas.openxmlformats.org/officeDocument/2006/relationships/slideLayout" Target="/ppt/slideLayouts/slideLayout1.xml" Id="Rff668877a52b4169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ff668877a52b4169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05d948fad4e452c" /><Relationship Type="http://schemas.openxmlformats.org/officeDocument/2006/relationships/notesSlide" Target="/ppt/notesSlides/notesSlide1.xml" Id="Rfee9d06d24c84da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dce5a4e5174bfa" /><Relationship Type="http://schemas.openxmlformats.org/officeDocument/2006/relationships/notesSlide" Target="/ppt/notesSlides/notesSlide2.xml" Id="R96e0b148880f4916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9a87c398b64b26" /><Relationship Type="http://schemas.openxmlformats.org/officeDocument/2006/relationships/notesSlide" Target="/ppt/notesSlides/notesSlide3.xml" Id="Rce79c1b42a7a441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4f9f42b1b34565" /><Relationship Type="http://schemas.openxmlformats.org/officeDocument/2006/relationships/notesSlide" Target="/ppt/notesSlides/notesSlide4.xml" Id="R9d25b1463c8f4436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6f7bb0f086f499e" /><Relationship Type="http://schemas.openxmlformats.org/officeDocument/2006/relationships/notesSlide" Target="/ppt/notesSlides/notesSlide5.xml" Id="R9fc15590538a48f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E78DA43-5BB1-4637-A871-2A32F6F7A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66750"/>
            <a:ext cx="5715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SMART INDIA HACKATHON 2026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14C4D62-A9FF-4AB7-8D04-7B5A65DCA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90700"/>
            <a:ext cx="95250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540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540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RaahSetu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F4F662C-CA01-4D33-BFD0-CD952D78A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2857500"/>
            <a:ext cx="9810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21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AI-based logistics and accessibility intelligence for the Northeast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0BC390-545A-4F1E-BA3A-81D588DBAB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857625"/>
            <a:ext cx="10877550" cy="9525"/>
          </a:xfrm>
          <a:prstGeom xmlns:a="http://schemas.openxmlformats.org/drawingml/2006/main" prst="line">
            <a:avLst/>
          </a:prstGeom>
          <a:ln xmlns:a="http://schemas.openxmlformats.org/drawingml/2006/main" w="38100">
            <a:solidFill>
              <a:srgbClr val="0F766E"/>
            </a:solidFill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FEBDA7-00EF-4C1F-8868-89CFBB895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305300"/>
            <a:ext cx="2381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875"/>
                </a:solidFill>
                <a:latin typeface="Aptos"/>
                <a:ea typeface="Aptos"/>
                <a:cs typeface="Aptos"/>
              </a:rPr>
              <a:t>Problem Statement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BB52343-4EDE-4ADB-8CAE-126E57002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591050"/>
            <a:ext cx="2857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SIH26002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94BC23A-114A-4045-A9B5-90F60F09C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305300"/>
            <a:ext cx="2857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875"/>
                </a:solidFill>
                <a:latin typeface="Aptos"/>
                <a:ea typeface="Aptos"/>
                <a:cs typeface="Aptos"/>
              </a:rPr>
              <a:t>Ministry / Organization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D958964-B154-4592-8B06-723BF41C2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91050"/>
            <a:ext cx="6286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Ministry of Development of North Eastern Region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69A4F26-3910-4E59-92AB-BC9B8C2B7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476875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5B6875"/>
                </a:solidFill>
                <a:latin typeface="Aptos"/>
                <a:ea typeface="Aptos"/>
                <a:cs typeface="Aptos"/>
              </a:rPr>
              <a:t>Team Name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D092CD-9E71-4A9B-8FD5-D99441B7D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5772150"/>
            <a:ext cx="285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RaahSetu</a:t>
            </a:r>
          </a:p>
        </p:txBody>
      </p:sp>
    </p:spTree>
    <p:extLst>
      <p:ext uri="{BB962C8B-B14F-4D97-AF65-F5344CB8AC3E}">
        <p14:creationId xmlns:p14="http://schemas.microsoft.com/office/powerpoint/2010/main" val="84673362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643489E-565D-4DD8-8B94-6C4FE6EF1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  IDEA / PROPOSED SOLUTION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1BF319B-6CCE-4DB3-A74B-756A7CA680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Safer logistics decisions when the fastest road is not the best road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44C028-86B9-4FB3-85EE-2D98F8E9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28750"/>
            <a:ext cx="495300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76D510-BC43-48E5-A657-34B2D6240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752600"/>
            <a:ext cx="1905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The gap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8E6517D-36E9-4D62-BF2F-052AA1628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152650"/>
            <a:ext cx="40957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025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2025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Road disruptions in the Northeast can turn a short route into a delayed or unsafe delivery.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E98EE94-0EBE-4E75-A781-335A3E32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219450"/>
            <a:ext cx="409575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Standard navigation optimizes travel time. Fleet operators also need road condition, accident history, weather exposure and accessibility status.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C82FD3A-6D37-4219-AE00-CC0C2C92E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5811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D97706">
              <a:alpha val="13333"/>
            </a:srgbClr>
          </a:solidFill>
          <a:ln xmlns:a="http://schemas.openxmlformats.org/drawingml/2006/main" w="9525">
            <a:solidFill>
              <a:srgbClr val="D97706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17A424C-B899-40E4-851F-B2128708B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914900"/>
            <a:ext cx="13906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Observed hazard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4CB10B3-CA69-4464-ABA9-7FE30EFC4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4857750"/>
            <a:ext cx="13906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C2413B">
              <a:alpha val="13333"/>
            </a:srgbClr>
          </a:solidFill>
          <a:ln xmlns:a="http://schemas.openxmlformats.org/drawingml/2006/main" w="9525">
            <a:solidFill>
              <a:srgbClr val="C2413B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E7CA44F-0A0D-48E4-9D8A-42F97F095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4914900"/>
            <a:ext cx="12001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C2413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C2413B"/>
                </a:solidFill>
                <a:latin typeface="Aptos"/>
                <a:ea typeface="Aptos"/>
                <a:cs typeface="Aptos"/>
              </a:rPr>
              <a:t>Route closure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A3267-91AE-4110-AA6A-B75832E5B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76700" y="4857750"/>
            <a:ext cx="1333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66E">
              <a:alpha val="13333"/>
            </a:srgbClr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23F06FD-2C5E-4895-BCFC-F1FBD6A0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9149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Weather risk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4043CE6-C8BF-4738-A831-F6F5872C75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8850" y="1428750"/>
            <a:ext cx="5543550" cy="4171950"/>
          </a:xfrm>
          <a:prstGeom xmlns:a="http://schemas.openxmlformats.org/drawingml/2006/main" prst="roundRect">
            <a:avLst>
              <a:gd name="adj" fmla="val 1826"/>
            </a:avLst>
          </a:prstGeom>
          <a:solidFill xmlns:a="http://schemas.openxmlformats.org/drawingml/2006/main">
            <a:srgbClr val="E9F3F1"/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A8BF510-7260-4183-8FEE-F17A53993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17526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RaahSetu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A840EC-C870-4D35-8EE5-D712920CA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095500"/>
            <a:ext cx="447675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240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Risk-aware A* routing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8C7F291-7BCA-4002-9E16-128C082D4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705100"/>
            <a:ext cx="4629150" cy="1028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A custom cost function adds modelled hazard exposure to travel time, then searches the road graph for a route that balances safety and delay.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9A5F0D4-E541-4D54-B5D0-BDD2DC623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943350"/>
            <a:ext cx="1619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Fastest route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B89465-8C59-474B-BF06-0E69A9CC6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76700"/>
            <a:ext cx="2476500" cy="9525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D97706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99AF51-B0D6-4C69-B7B4-49D3CCCB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82300" y="394335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shorter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844CE0-FA74-4DA6-B38F-EBB5F932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457700"/>
            <a:ext cx="1809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Risk-aware route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D550A18-0984-4B80-943A-44C193A4C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591050"/>
            <a:ext cx="2333625" cy="9525"/>
          </a:xfrm>
          <a:prstGeom xmlns:a="http://schemas.openxmlformats.org/drawingml/2006/main" prst="line">
            <a:avLst/>
          </a:prstGeom>
          <a:ln xmlns:a="http://schemas.openxmlformats.org/drawingml/2006/main" w="57150">
            <a:solidFill>
              <a:srgbClr val="0F766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7A86565-526E-4CD9-AE97-CE8A2FBE2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39425" y="4457700"/>
            <a:ext cx="666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safer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F50205E-79CD-4EC4-9AEB-3A8334A18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10150"/>
            <a:ext cx="47625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Output: route, estimated delay, risk evidence and a clear explanation for operators.</a:t>
            </a:r>
          </a:p>
        </p:txBody>
      </p:sp>
    </p:spTree>
    <p:extLst>
      <p:ext uri="{BB962C8B-B14F-4D97-AF65-F5344CB8AC3E}">
        <p14:creationId xmlns:p14="http://schemas.microsoft.com/office/powerpoint/2010/main" val="407020931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AB0C51-49B1-45DC-AFA1-C7A04F0AB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  TECHNICAL ARCHITECTURE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AAD9EC-39DB-41D4-8776-7DB4301A5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One explainable path from a request to a route decision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18E51C3-DE37-4940-8209-4EA5ACB7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66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25E10E-A70F-4670-84A6-8D01A380C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Fleet operator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AC009FC-31B5-4E33-A0B1-9BFE927F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1666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C42590-A238-4179-B5A9-75B69DF8E4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FastAPI</a:t>
            </a:r>
          </a:p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request layer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66477B3-862B-425E-83F7-A672152B95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166687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58C642-FDAC-4B14-A7AA-CD547E02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186690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OSMnx graph</a:t>
            </a:r>
          </a:p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+ hazard joins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6E3C12-DFF9-4299-8FC0-6E89CA22C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666875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3C0DFFE-CEF4-4AF6-87F5-14290F147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186690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Risk-aware A*</a:t>
            </a:r>
          </a:p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route comparison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0D79FE-1885-4F48-A9E3-8CA692784C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38576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5C61630-D65D-4202-A2A2-F797C52A8A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405765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3D operations</a:t>
            </a:r>
          </a:p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dashboard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878239-0CF6-4D6C-9F1D-7FF61440E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91200" y="3857625"/>
            <a:ext cx="2095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3E44D70-8A87-4A58-B853-49D0C66A2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4057650"/>
            <a:ext cx="1790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PostgreSQL</a:t>
            </a:r>
          </a:p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+ PostGIS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7EC66-4D67-49B9-9780-DC9BD49A7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857625"/>
            <a:ext cx="24765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8461AFE-BE51-4BED-81B6-7B47366F6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34400" y="4057650"/>
            <a:ext cx="21717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Versioned</a:t>
            </a:r>
          </a:p>
          <a:p xmlns:a="http://schemas.openxmlformats.org/drawingml/2006/main">
            <a:pPr>
              <a:defRPr sz="16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scenario store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B0736A7-F0CD-49BD-BF49-A88E71DF2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05100" y="209550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10EAA61-D7FA-41DE-900B-1E146D5BCB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3076575" y="2028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18F368E-ABE5-4D7F-84EC-6CF2A7632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9550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BE33553-8211-4712-AF5C-E7C6820A7D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67375" y="2028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F3F6BC5-E81A-4218-846F-E2A2F8A51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09550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74C6115-0CB1-4582-A9E3-DE90AA6F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58175" y="202882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6014033-C7A6-49F0-99A1-C49EC175E2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524125"/>
            <a:ext cx="9525" cy="1276350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000255F-EB5E-40D5-9905-10F67B763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981825" y="373380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D483256-2A8E-4EFD-969E-E423910994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428625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FFCE87D-E17C-4945-8AA7-CB9239A83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5667375" y="4219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58D20F5-AC5D-4CB1-A628-9845721E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4286250"/>
            <a:ext cx="4381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8DEDF25-E300-4300-9E22-FB4235E25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258175" y="42195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F9AE8BA-EA5E-4C06-8DAD-7287A41338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571750"/>
            <a:ext cx="9525" cy="128587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8BB1C586-9A69-45F9-AF6A-18EDA8438D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81475" y="2505075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FC62110-0D03-4C05-A0DC-62952670A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2000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Technology stack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F5432B9-3646-45BC-A555-192447C30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857875"/>
            <a:ext cx="10906125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React + TypeScript + React Three Fiber     |     Python 3.12 + FastAPI     |     OSMnx     |     Supabase PostgreSQL + PostGIS     |     Docker + Kubernetes</a:t>
            </a:r>
          </a:p>
        </p:txBody>
      </p:sp>
    </p:spTree>
    <p:extLst>
      <p:ext uri="{BB962C8B-B14F-4D97-AF65-F5344CB8AC3E}">
        <p14:creationId xmlns:p14="http://schemas.microsoft.com/office/powerpoint/2010/main" val="58427035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DED0B615-15E1-403E-889C-294650158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  USE CASES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82BC6AA-EB1C-420D-AA05-6FD7B5960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A common decision layer for emergency and commercial fleets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17DC78B-FC5C-4059-A047-26EABE14E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192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79C95BB-8B57-49A9-8AB0-6CF5D87BB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8478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C2413B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C2413B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89AB920-BF05-4718-A4EA-17AD95519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Emergency response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390BDAB-A90B-405B-AECF-4C94E6A122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924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C2413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C2413B"/>
                </a:solidFill>
                <a:latin typeface="Aptos"/>
                <a:ea typeface="Aptos"/>
                <a:cs typeface="Aptos"/>
              </a:rPr>
              <a:t>NDRF / SDRF fleets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542EB33-AF81-4A3B-80AF-A8A273478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4861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Plan a relief run around flooded, blocked or landslide-prone segments.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A560E76-FF49-421F-9649-1488DCC37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16192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FE12CF6-3AA8-43FA-BE27-D3BF7669AF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18478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696774-6EB2-42B5-B3E2-80490ED0BA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Essential logistics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04BFD60-0D96-4157-9BB8-3989864FA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924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Heavy trucks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F6B6AB-F514-4579-83DC-C672E83B1A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4861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Compare time and risk before moving medicines, food or construction material.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80986A-4C29-4A24-A128-9BABB9B37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24800" y="1619250"/>
            <a:ext cx="3352800" cy="3333750"/>
          </a:xfrm>
          <a:prstGeom xmlns:a="http://schemas.openxmlformats.org/drawingml/2006/main" prst="roundRect">
            <a:avLst>
              <a:gd name="adj" fmla="val 2286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38DD8F-A25B-47AC-8B5E-5840CA1C51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1847850"/>
            <a:ext cx="5143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0BB1B04-1016-40FF-8899-A9695D093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7650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875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Field reporting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CDADFA-A91B-46A3-81C9-A81DF6149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924175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District officials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672EDE-833E-4091-80A6-A1478AC86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3486150"/>
            <a:ext cx="2781300" cy="876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Upload a geo-tagged closure or photo so the next route decision uses current evidence.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B61A9D-32B8-4895-835C-0E948BE1C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429250"/>
            <a:ext cx="1905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Operational loop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1288E8D-DDDB-49AB-A6FB-88882C9A5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76500" y="5381625"/>
            <a:ext cx="11906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66E">
              <a:alpha val="13333"/>
            </a:srgbClr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2BF4868-D32B-4F42-88B5-D941393B9A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54387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FF76B84-362A-43CC-8844-C2EF26E9A1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534025"/>
            <a:ext cx="4762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3B3073C-C410-4DEA-97F1-02CD87B4B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4124325" y="5467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D9F33F1-FA59-435E-8D77-1FFA5715E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00550" y="5381625"/>
            <a:ext cx="123825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66E">
              <a:alpha val="13333"/>
            </a:srgbClr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A205B86-6C2E-4CAE-B867-A00A52C81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5438775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Compare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D635C73-1F0D-462D-ABC4-1328A1AEA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86425" y="5534025"/>
            <a:ext cx="4762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3137C2C-ACFC-4A66-97AC-FD4BDE4A52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6096000" y="5467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5A3360-71A6-4C8B-8EE0-1EA3C0BF2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72225" y="5381625"/>
            <a:ext cx="1190625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66E">
              <a:alpha val="13333"/>
            </a:srgbClr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400319-7409-4075-A446-5D867C8DD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67475" y="5438775"/>
            <a:ext cx="10001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Explain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E80F67A-CFD9-4417-921F-88CA0213C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5534025"/>
            <a:ext cx="476250" cy="9525"/>
          </a:xfrm>
          <a:prstGeom xmlns:a="http://schemas.openxmlformats.org/drawingml/2006/main" prst="line">
            <a:avLst/>
          </a:prstGeom>
          <a:ln xmlns:a="http://schemas.openxmlformats.org/drawingml/2006/main" w="19050">
            <a:solidFill>
              <a:srgbClr val="0F766E"/>
            </a:solidFill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8BC34DA-62A2-4A3D-BC49-55590CC8C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5400000">
            <a:off x="8067675" y="5467350"/>
            <a:ext cx="133350" cy="13335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0F766E"/>
          </a:solidFill>
          <a:ln xmlns:a="http://schemas.openxmlformats.org/drawingml/2006/main" w="0">
            <a:solidFill>
              <a:srgbClr val="0F766E"/>
            </a:solidFill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D4D74D-DB5C-4EC7-A11F-BB08ED2C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5381625"/>
            <a:ext cx="952500" cy="304800"/>
          </a:xfrm>
          <a:prstGeom xmlns:a="http://schemas.openxmlformats.org/drawingml/2006/main" prst="roundRect">
            <a:avLst>
              <a:gd name="adj" fmla="val 25000"/>
            </a:avLst>
          </a:prstGeom>
          <a:solidFill xmlns:a="http://schemas.openxmlformats.org/drawingml/2006/main">
            <a:srgbClr val="0F766E">
              <a:alpha val="13333"/>
            </a:srgbClr>
          </a:solidFill>
          <a:ln xmlns:a="http://schemas.openxmlformats.org/drawingml/2006/main" w="9525">
            <a:solidFill>
              <a:srgbClr val="0F766E"/>
            </a:solidFill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9B401710-A666-4AD8-A1B8-303B00C83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5438775"/>
            <a:ext cx="762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Act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B62A5F7-FCD7-49B6-8B5E-1534E660D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198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If every road is blocked, the system surfaces the accessibility gap for escalation instead of returning a misleading route.</a:t>
            </a:r>
          </a:p>
        </p:txBody>
      </p:sp>
    </p:spTree>
    <p:extLst>
      <p:ext uri="{BB962C8B-B14F-4D97-AF65-F5344CB8AC3E}">
        <p14:creationId xmlns:p14="http://schemas.microsoft.com/office/powerpoint/2010/main" val="34082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A7C0087-40CD-401F-A56E-C3718A88B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23850"/>
            <a:ext cx="109728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0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04  DEPENDENCIES AND SHOW STOPPERS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605A31-09E5-44BA-B10B-AD415EA13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38175"/>
            <a:ext cx="109728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28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A realistic pilot plan keeps the decision traceable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E6C64E-1185-4323-A386-7AC65C5CE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476375"/>
            <a:ext cx="5095875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76B901-1473-480B-ADA9-CE14260B0C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90700"/>
            <a:ext cx="2286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Dependencies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88944F0-85C5-4BD7-BBE4-2C57C124A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4003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202B7F5-4F19-4E9F-96C7-F262FA6ADE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23907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Open road network from OSM / OSMnx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59A38BF-4C27-4F8B-8EB6-D68FD5EC8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0099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074DBB6-16F1-46A4-AE53-F63D3BFA2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0003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Reviewed hazard observations from government sources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2277A6-DF84-45F1-A7F2-25CEFA8DB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6195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219CE46-807F-4C95-BF68-B877BECB42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36099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Weather and disruption updates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E071817-B3E4-40D9-A33F-FB24DCCEB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229100"/>
            <a:ext cx="38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DE86E23-0FD6-4C23-9835-C41AF3DFC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8750" y="4219575"/>
            <a:ext cx="371475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Supabase project with PostGIS enabled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2205190-F892-4172-9078-7D66AFDE6E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3625" y="1476375"/>
            <a:ext cx="5438775" cy="3857625"/>
          </a:xfrm>
          <a:prstGeom xmlns:a="http://schemas.openxmlformats.org/drawingml/2006/main" prst="roundRect">
            <a:avLst>
              <a:gd name="adj" fmla="val 1975"/>
            </a:avLst>
          </a:prstGeom>
          <a:solidFill xmlns:a="http://schemas.openxmlformats.org/drawingml/2006/main">
            <a:srgbClr val="F4F8F8"/>
          </a:solidFill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DC95EBA-BC67-46AC-9DCB-4B572759C9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17907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 b="1">
                <a:solidFill>
                  <a:srgbClr val="D97706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D97706"/>
                </a:solidFill>
                <a:latin typeface="Aptos"/>
                <a:ea typeface="Aptos"/>
                <a:cs typeface="Aptos"/>
              </a:rPr>
              <a:t>Show stoppers and response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E2DA99-E88A-4281-AFD8-4D84F3A0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23622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Paid live traffic feeds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E9E56D1-5802-4A80-A07A-5973CE7B4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23622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Use open graph data and expose freshness clearly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B2DD899-0FA8-4FC4-8FCF-6EAD34533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0289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Unverified hazard coordinates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7917379-EC37-432C-918F-CC6A0745D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0289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Keep records reviewable before promoting them to route cost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5B6BF0B-6AC4-4CDE-B1B7-E4493F3F2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36957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Single-access road blocked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E9D7383-164A-4FFB-9D77-5A4A891DB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369570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Raise an accessibility alert and show the last feasible plan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C738F8-5BA3-427D-9744-E317530F6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29375" y="43624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42331"/>
                </a:solidFill>
                <a:latin typeface="Aptos"/>
                <a:ea typeface="Aptos"/>
                <a:cs typeface="Aptos"/>
              </a:rPr>
              <a:t>Low-connectivity field update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4671B05-11E5-4DBF-AB57-42DDDBF25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362450"/>
            <a:ext cx="25717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5B6875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5B6875"/>
                </a:solidFill>
                <a:latin typeface="Aptos"/>
                <a:ea typeface="Aptos"/>
                <a:cs typeface="Aptos"/>
              </a:rPr>
              <a:t>Queue geo-tagged reports for offline sync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1B10C02-482C-475D-9CB5-7BC224A15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15000"/>
            <a:ext cx="10972800" cy="9525"/>
          </a:xfrm>
          <a:prstGeom xmlns:a="http://schemas.openxmlformats.org/drawingml/2006/main" prst="line">
            <a:avLst/>
          </a:prstGeom>
          <a:ln xmlns:a="http://schemas.openxmlformats.org/drawingml/2006/main" w="9525">
            <a:solidFill>
              <a:srgbClr val="D5E0E5"/>
            </a:solidFill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2AE4008-6EFD-4BD9-BC67-6DB18B636C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4360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F766E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0F766E"/>
                </a:solidFill>
                <a:latin typeface="Aptos"/>
                <a:ea typeface="Aptos"/>
                <a:cs typeface="Aptos"/>
              </a:rPr>
              <a:t>Submission check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EEFC65B-935D-4945-BC7C-503F08086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5924550"/>
            <a:ext cx="9048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142331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42331"/>
                </a:solidFill>
                <a:latin typeface="Aptos"/>
                <a:ea typeface="Aptos"/>
                <a:cs typeface="Aptos"/>
              </a:rPr>
              <a:t>5 slides  |  no college name or logo  |  no team photos  |  export to PDF before portal upload</a:t>
            </a:r>
          </a:p>
        </p:txBody>
      </p:sp>
    </p:spTree>
    <p:extLst>
      <p:ext uri="{BB962C8B-B14F-4D97-AF65-F5344CB8AC3E}">
        <p14:creationId xmlns:p14="http://schemas.microsoft.com/office/powerpoint/2010/main" val="139062473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2026-09-09T17:16:49.5720000Z</dcterms:created>
  <dcterms:modified xsi:type="dcterms:W3CDTF">2026-09-09T17:16:49.5720000Z</dcterms:modified>
</coreProperties>
</file>