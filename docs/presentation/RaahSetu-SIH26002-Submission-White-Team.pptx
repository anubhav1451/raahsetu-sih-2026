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6104ab1b9546e8" /><Relationship Type="http://schemas.openxmlformats.org/officeDocument/2006/relationships/extended-properties" Target="/docProps/app.xml" Id="R592d8ef1a3cd4318" /><Relationship Type="http://schemas.openxmlformats.org/officeDocument/2006/relationships/officeDocument" Target="/ppt/presentation.xml" Id="R826497dbe61641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1695494c5e49fa"/>
  </p:sldMasterIdLst>
  <p:notesMasterIdLst>
    <p:notesMasterId xmlns:r="http://schemas.openxmlformats.org/officeDocument/2006/relationships" r:id="R405d4896fe584697"/>
  </p:notesMasterIdLst>
  <p:sldIdLst>
    <p:sldId xmlns:r="http://schemas.openxmlformats.org/officeDocument/2006/relationships" id="256" r:id="Rad233210e17b4f1c"/>
    <p:sldId xmlns:r="http://schemas.openxmlformats.org/officeDocument/2006/relationships" id="257" r:id="Re3faf06b73c3485e"/>
    <p:sldId xmlns:r="http://schemas.openxmlformats.org/officeDocument/2006/relationships" id="258" r:id="R47616adc4fdf4f87"/>
    <p:sldId xmlns:r="http://schemas.openxmlformats.org/officeDocument/2006/relationships" id="259" r:id="R2d3da5bce28e416d"/>
    <p:sldId xmlns:r="http://schemas.openxmlformats.org/officeDocument/2006/relationships" id="260" r:id="R2429b319197744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4ddfca768f41f9" /><Relationship Type="http://schemas.openxmlformats.org/officeDocument/2006/relationships/slideMaster" Target="/ppt/slideMasters/slideMaster1.xml" Id="R1f1695494c5e49fa" /><Relationship Type="http://schemas.openxmlformats.org/officeDocument/2006/relationships/notesMaster" Target="/ppt/notesMasters/notesMaster1.xml" Id="R405d4896fe584697" /><Relationship Type="http://schemas.openxmlformats.org/officeDocument/2006/relationships/presProps" Target="/ppt/presProps.xml" Id="R77ff0a6253f146f4" /><Relationship Type="http://schemas.openxmlformats.org/officeDocument/2006/relationships/tableStyles" Target="/ppt/tableStyles.xml" Id="R1cc780021fd7474f" /><Relationship Type="http://schemas.openxmlformats.org/officeDocument/2006/relationships/slide" Target="/ppt/slides/slide1.xml" Id="Rad233210e17b4f1c" /><Relationship Type="http://schemas.openxmlformats.org/officeDocument/2006/relationships/slide" Target="/ppt/slides/slide2.xml" Id="Re3faf06b73c3485e" /><Relationship Type="http://schemas.openxmlformats.org/officeDocument/2006/relationships/slide" Target="/ppt/slides/slide3.xml" Id="R47616adc4fdf4f87" /><Relationship Type="http://schemas.openxmlformats.org/officeDocument/2006/relationships/slide" Target="/ppt/slides/slide4.xml" Id="R2d3da5bce28e416d" /><Relationship Type="http://schemas.openxmlformats.org/officeDocument/2006/relationships/slide" Target="/ppt/slides/slide5.xml" Id="R2429b319197744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ed4892cf5447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9f8ada685f4dbc" /><Relationship Type="http://schemas.openxmlformats.org/officeDocument/2006/relationships/notesMaster" Target="/ppt/notesMasters/notesMaster1.xml" Id="Rd320fef788294d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6990d7f59f4efe" /><Relationship Type="http://schemas.openxmlformats.org/officeDocument/2006/relationships/notesMaster" Target="/ppt/notesMasters/notesMaster1.xml" Id="R40334b9f5c774b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f42108c52142d7" /><Relationship Type="http://schemas.openxmlformats.org/officeDocument/2006/relationships/notesMaster" Target="/ppt/notesMasters/notesMaster1.xml" Id="R772aa70be16144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8eb4bc6a81479d" /><Relationship Type="http://schemas.openxmlformats.org/officeDocument/2006/relationships/notesMaster" Target="/ppt/notesMasters/notesMaster1.xml" Id="R9748f0f56a7144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2d90378e7143e4" /><Relationship Type="http://schemas.openxmlformats.org/officeDocument/2006/relationships/notesMaster" Target="/ppt/notesMasters/notesMaster1.xml" Id="R6d85a52f76284a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Submission deck for SIH26002. Team and ministry wording follows the project brief supplied by the team. Confirm the portal wording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and solution language are based on the team project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OSMnx: https://osmnx.readthedocs.io/  |  PostGIS: https://postgis.net/  |  FastAPI: https://fastapi.tiangolo.com/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use cases reflect the SIH26002 problem statement and the team’s target users.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separates what the prototype can demonstrate from inputs that need team or agency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06b9fd5a1945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22b25e6aec41e9" /><Relationship Type="http://schemas.openxmlformats.org/officeDocument/2006/relationships/slideLayout" Target="/ppt/slideLayouts/slideLayout1.xml" Id="Rca093e4b2b354e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093e4b2b354e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f97cf22af4308" /><Relationship Type="http://schemas.openxmlformats.org/officeDocument/2006/relationships/notesSlide" Target="/ppt/notesSlides/notesSlide1.xml" Id="R98bfaea5ae7547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0a65b30e643a3" /><Relationship Type="http://schemas.openxmlformats.org/officeDocument/2006/relationships/notesSlide" Target="/ppt/notesSlides/notesSlide2.xml" Id="Ra5c714e02ca143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7265e375a43b9" /><Relationship Type="http://schemas.openxmlformats.org/officeDocument/2006/relationships/notesSlide" Target="/ppt/notesSlides/notesSlide3.xml" Id="Rf33d584be9a145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fe50ae16045f8" /><Relationship Type="http://schemas.openxmlformats.org/officeDocument/2006/relationships/notesSlide" Target="/ppt/notesSlides/notesSlide4.xml" Id="R78c2ba1b77a844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aefbf7d684e6c" /><Relationship Type="http://schemas.openxmlformats.org/officeDocument/2006/relationships/notesSlide" Target="/ppt/notesSlides/notesSlide5.xml" Id="R9c6061ac5fb74e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48E06-B2FE-496D-8844-818859EF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33629-1EEB-43FE-AB97-AAC95FC7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14300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SIH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11AC8-5DDA-4BD4-B715-C9721AAC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RaahSetu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D9637-B0CF-4D8E-8391-36085E07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AI-based logistics and accessibility intelligence for the Northeast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7F6DD-3C77-4E46-BA3E-D5B98A56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448550" cy="95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F76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84781-1A6A-45E2-80E7-F626015C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1714500" cy="95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9770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08014-1C1C-49D3-B33D-6900F6DA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57625"/>
            <a:ext cx="1714500" cy="95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2413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F525E-A658-404B-AE7E-58D3360B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875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05EEA-7F35-4548-9A67-964643D7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SIH26002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24C8C-B0E9-4535-A6B0-0DA0005A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05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875"/>
                </a:solidFill>
                <a:latin typeface="Aptos"/>
                <a:ea typeface="Aptos"/>
                <a:cs typeface="Aptos"/>
              </a:rPr>
              <a:t>Ministry / Organization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08F18-9F90-43BC-A109-66BED6C2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910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Ministry of Development of North Eastern Region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BE2EF-3128-4414-93F6-FD70F911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875"/>
                </a:solidFill>
                <a:latin typeface="Aptos"/>
                <a:ea typeface="Aptos"/>
                <a:cs typeface="Aptos"/>
              </a:rPr>
              <a:t>Team Name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697B5-AA8B-40E7-B137-FB37406F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RaahSetu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E1B7B-A356-4185-948F-21DB14BA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81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875"/>
                </a:solidFill>
                <a:latin typeface="Aptos"/>
                <a:ea typeface="Aptos"/>
                <a:cs typeface="Aptos"/>
              </a:rPr>
              <a:t>Team members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78E0F-FFD2-4709-99F4-F883C97B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5785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Ashutosh Sharma  ·  Astha Thapliyal  ·  Kavya Verma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FC6B9-AFA5-46B9-A0DD-BCA0156B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53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Ashutosh Kumar Upadhyay  ·  Anubhav Kumar  ·  Atharv Mansotra</a:t>
            </a:r>
          </a:p>
        </p:txBody>
      </p:sp>
    </p:spTree>
    <p:extLst>
      <p:ext uri="{BB962C8B-B14F-4D97-AF65-F5344CB8AC3E}">
        <p14:creationId xmlns:p14="http://schemas.microsoft.com/office/powerpoint/2010/main" val="3212011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A319AF-8A1C-40B1-8FA3-2302A03C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  IDEA / 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E3DB3-1D18-4B4E-B66E-07500342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Safer logistics decisions when the fastest road is not the best road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B86E3-903C-4D9E-B156-F81E266B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9530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6F82D-AA93-4B7D-9CD6-EB6DF26A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The gap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24061-AB16-4802-87B3-A744257F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Road disruptions in the Northeast can turn a short route into a delayed or unsafe delivery.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D5072-BD30-4805-8DAA-8CCCF38B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09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Standard navigation optimizes travel time. Fleet operators also need road condition, accident history, weather exposure and accessibility status.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87449-2148-424C-BD8B-C8418F8F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581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7706">
              <a:alpha val="13333"/>
            </a:srgbClr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95F49-1838-46F3-BC61-1C6D9D9B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Observed hazard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18989-F853-4A58-9FBE-5B24A9FB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13906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2413B">
              <a:alpha val="13333"/>
            </a:srgbClr>
          </a:solidFill>
          <a:ln xmlns:a="http://schemas.openxmlformats.org/drawingml/2006/main" w="9525">
            <a:solidFill>
              <a:srgbClr val="C2413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82E67-A433-4693-9233-B2F56CBE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149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241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2413B"/>
                </a:solidFill>
                <a:latin typeface="Aptos"/>
                <a:ea typeface="Aptos"/>
                <a:cs typeface="Aptos"/>
              </a:rPr>
              <a:t>Route closure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AFDEC-D992-4250-BA3A-464ABF19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57750"/>
            <a:ext cx="1333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766E">
              <a:alpha val="13333"/>
            </a:srgbClr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20AB6-1962-4A90-9BCC-621B8088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14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Weather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9C45F-BF4C-41BA-BDD0-092142AD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28750"/>
            <a:ext cx="55435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29F56-2460-41B9-89B5-9A60D7F1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RaahSetu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6AFDD-0AFB-4FAE-B82B-8D53A4D7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Risk-aware A* 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7F79DB-0DDB-4B6D-8969-42D0FE30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4629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331"/>
                </a:solidFill>
                <a:latin typeface="Aptos"/>
                <a:ea typeface="Aptos"/>
                <a:cs typeface="Aptos"/>
              </a:rPr>
              <a:t>A custom cost function adds modelled hazard exposure to travel time, then searches the road graph for a route that balances safety and delay.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117F92-3B15-4E26-94C5-781862B5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Fastest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49B0E0-9995-4D58-A072-F9F6773C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2476500" cy="9525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D9770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11EC06-5F33-4D71-8254-7FAF54B7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943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shorter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EDB23-406E-4401-893F-B2E9BA2C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57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Risk-aware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453158-0A5C-4F32-9577-169541E8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2333625" cy="9525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0F766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9BC853-489E-4568-97FE-D0D23E99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457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safer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48C885-0403-47C5-84A0-D0960D43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10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Output: route, estimated delay, risk evidence and a clear explanation for operators.</a:t>
            </a:r>
          </a:p>
        </p:txBody>
      </p:sp>
    </p:spTree>
    <p:extLst>
      <p:ext uri="{BB962C8B-B14F-4D97-AF65-F5344CB8AC3E}">
        <p14:creationId xmlns:p14="http://schemas.microsoft.com/office/powerpoint/2010/main" val="19935019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BDF289-18A6-47A3-B0A6-B61C8347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02  TECHNICAL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D9889-6A91-411F-9890-DC352E61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One explainable path from a request to a route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E5C26-43D7-4C27-8745-9E8663FB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07584-3E48-432B-B017-42267B77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Fleet operator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94B48-A5F6-4686-AF1E-BCFFB225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6687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CFFED-E7E1-44BD-BA6A-3FEAB8D4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6690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FastAPI</a:t>
            </a:r>
          </a:p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request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4B73F-1CC3-4145-B730-3C3C304F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6687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10956-10F4-4207-99C2-7E7A4799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6690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OSMnx graph</a:t>
            </a:r>
          </a:p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+ hazard joins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D6655-B1FD-4959-BDDE-5A2B1A9E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247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1B39E-4332-4345-9C8C-6008D79D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6690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Risk-aware A*</a:t>
            </a:r>
          </a:p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route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74908-2D19-4ABD-A595-DB2375F3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5762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3FCCB-F5FD-41F2-99B0-8DD3BC3A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5765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3D operations</a:t>
            </a:r>
          </a:p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9A23E-2446-4A97-80E6-64093CEC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5762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F66C8-4E59-4F18-9673-38C5943F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5765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+ PostGIS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35229-670C-4888-BF60-4A2C38ED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57625"/>
            <a:ext cx="247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D2FD4-D97A-44BE-A683-543E285E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5765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Versioned</a:t>
            </a:r>
          </a:p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scenario 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2C422-42D6-4BCC-B35E-A8E1F3D9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95500"/>
            <a:ext cx="4381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B49BF-14E2-491B-AE8E-EFC6AD2F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76575" y="20288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AD2AD8-A3B3-450C-86FC-3F4540AD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95500"/>
            <a:ext cx="4381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E79AA1-2783-488B-857B-81B94418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67375" y="20288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7AFE7-5235-4566-9B5B-3F812017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4381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D24D9E-3C1E-4CEF-8DBD-EC8F4167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58175" y="20288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4B8D0-AD92-4AAF-A4E7-D8896E82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24125"/>
            <a:ext cx="9525" cy="12763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DA3790-A304-4EAD-BC5D-A00E631B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81825" y="3733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6321FC-3B34-4153-A264-CD1310D8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86250"/>
            <a:ext cx="4381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B3CEB1-EA47-4F6C-9FE5-E5D7F5F9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67375" y="4219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F0C682-AE15-4E3B-BB94-AECF264B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86250"/>
            <a:ext cx="4381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005483-B9E7-486C-A539-5CD1E609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58175" y="4219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FB6EBE-A2CF-4A1E-883E-AA23E98E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9525" cy="12858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194FBD-EA91-430B-9ABE-6CFB72A0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81475" y="2505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88DF7C-4F28-473C-AA2A-5B9B2CA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Technology 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99CDCA-6FBF-482C-86EF-08AA7F81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331"/>
                </a:solidFill>
                <a:latin typeface="Aptos"/>
                <a:ea typeface="Aptos"/>
                <a:cs typeface="Aptos"/>
              </a:rPr>
              <a:t>React + TypeScript + React Three Fiber     |     Python 3.12 + FastAPI     |     OSMnx     |     Supabase PostgreSQL + PostGIS     |     Docker + Kubernetes</a:t>
            </a:r>
          </a:p>
        </p:txBody>
      </p:sp>
    </p:spTree>
    <p:extLst>
      <p:ext uri="{BB962C8B-B14F-4D97-AF65-F5344CB8AC3E}">
        <p14:creationId xmlns:p14="http://schemas.microsoft.com/office/powerpoint/2010/main" val="1454240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DBEFCA-5102-4C23-BDAA-01AAF874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 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0A508-F773-4C3A-8CCE-88870973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A common decision layer for emergency and commercial fleets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8AA45-5282-4F2B-81DC-FCCC3EDF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352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37442-4E03-4672-B771-4400E0CB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241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2413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71598-DD02-4A40-ABB9-FB499456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Emergency 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B36B2-43DE-46ED-97B5-540D221D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41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2413B"/>
                </a:solidFill>
                <a:latin typeface="Aptos"/>
                <a:ea typeface="Aptos"/>
                <a:cs typeface="Aptos"/>
              </a:rPr>
              <a:t>NDRF / SDRF fleets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0C528-56CC-447C-BADE-E331791E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Plan a relief run around flooded, blocked or landslide-prone segments.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BCEA8-D8EE-4D58-B02C-DF47E76B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19250"/>
            <a:ext cx="3352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41228-33E6-449F-980F-44DE541C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478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17C9D-B6A0-4FE2-914C-8DF0C615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Essential logistics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46340-6E76-486E-9776-247D8EEF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24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Heavy trucks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26655-13EE-4131-A3E0-FB714028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861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Compare time and risk before moving medicines, food or construction material.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CC63A-AB73-48A4-B0E1-0A329272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352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B7E04-DD4D-499C-AB51-A71A9EE6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B7303-1141-49FE-A3C3-B67E4511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Field 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6FC30-D73F-4398-9678-E39908EE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24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District officials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2DB02-A90B-4E43-AEEE-05E384A9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861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Upload a geo-tagged closure or photo so the next route decision uses current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80BAB-31B4-4A05-B896-ED602171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Operational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25D4E-666D-4F52-B5B0-4B27D383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81625"/>
            <a:ext cx="11906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766E">
              <a:alpha val="13333"/>
            </a:srgbClr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A40B5-1490-47DE-A91A-91DB4FBC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387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9CA1B5-9AA9-4B18-ACE3-CC8C13F3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34025"/>
            <a:ext cx="4762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35F3D-BC2F-483E-8318-CC02552F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24325" y="54673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643E16-1FA9-43B4-98B2-949E6C32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81625"/>
            <a:ext cx="1238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766E">
              <a:alpha val="13333"/>
            </a:srgbClr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EFEB7C-A33C-449D-AAE6-FF417A2B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387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785662-1921-4BFC-845F-0333421E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534025"/>
            <a:ext cx="4762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7FBD17-D84B-4F8B-96A4-F1F1D825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096000" y="54673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E087CE-865B-40D2-BCF2-20EAC415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381625"/>
            <a:ext cx="11906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766E">
              <a:alpha val="13333"/>
            </a:srgbClr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A00DB1-91D6-433B-AF41-BC037B2B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4387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006A6E-A21D-4E8A-A078-A8970F1C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34025"/>
            <a:ext cx="4762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5A723D-E569-43ED-80E6-E6327B49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67675" y="54673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2126FB-8F58-457C-A9EF-93F72FA4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81625"/>
            <a:ext cx="952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766E">
              <a:alpha val="13333"/>
            </a:srgbClr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CC140F-F51F-491A-B398-0D10DC52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38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D0DF8F-9B04-411B-811E-9EBBFD20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If every road is blocked, the system surfaces the accessibility gap for escalation instead of returning a misleading route.</a:t>
            </a:r>
          </a:p>
        </p:txBody>
      </p:sp>
    </p:spTree>
    <p:extLst>
      <p:ext uri="{BB962C8B-B14F-4D97-AF65-F5344CB8AC3E}">
        <p14:creationId xmlns:p14="http://schemas.microsoft.com/office/powerpoint/2010/main" val="1235798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11E9D4-BB05-4D78-BC9D-C8BE7807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04  DEPENDENCIES AND SHOW STOPPERS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C8AC3-D6D7-4933-BF83-BA05371D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A realistic pilot plan keeps the decision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2E909-25CD-4E08-A64A-C402B1E4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095875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ADB30-6813-462A-BFA6-1990E8F4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Dependencies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BA00D-06DA-4023-8501-5AB89FC6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65283-992F-4556-B53B-A273C558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907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31"/>
                </a:solidFill>
                <a:latin typeface="Aptos"/>
                <a:ea typeface="Aptos"/>
                <a:cs typeface="Aptos"/>
              </a:rPr>
              <a:t>Open road network from OSM / OSMnx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1330A-4026-4FB9-8FFB-92A1DD14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50FA7-B2CF-465D-BDAF-35F45993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31"/>
                </a:solidFill>
                <a:latin typeface="Aptos"/>
                <a:ea typeface="Aptos"/>
                <a:cs typeface="Aptos"/>
              </a:rPr>
              <a:t>Reviewed hazard observations from government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3B937-229E-42F9-A12D-F78524E9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FA105-CD93-423D-AD5E-FE3FAE19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99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31"/>
                </a:solidFill>
                <a:latin typeface="Aptos"/>
                <a:ea typeface="Aptos"/>
                <a:cs typeface="Aptos"/>
              </a:rPr>
              <a:t>Weather and disruption updates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B6A57-E49D-40E1-B16D-A82A556A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C87E6-BCDA-4C57-B4D2-B0493728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95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31"/>
                </a:solidFill>
                <a:latin typeface="Aptos"/>
                <a:ea typeface="Aptos"/>
                <a:cs typeface="Aptos"/>
              </a:rPr>
              <a:t>Supabase project with PostGIS enabled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051B2-C673-48E8-96D9-E036654E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76375"/>
            <a:ext cx="5438775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28D3A-37F5-4B7C-AD1D-29FDB03C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90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Show stoppers and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E6F24-4A12-4236-8375-23B27AA2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62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Paid live traffic feeds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59FBD-12B1-41E2-BA9F-444D52EB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Use open graph data and expose freshness clearly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430C09-D3DF-4B63-BBDD-A1F12A5C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28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Unverified hazard coordinates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C7C36-CDFD-4187-AF72-8C801459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Keep records reviewable before promoting them to route cost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B31E5-2056-4308-A4E7-27631DCE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95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Single-access road blocked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D45B67-2DB9-4902-8F7B-B58D23EB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Raise an accessibility alert and show the last feasible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40B0A-A290-4662-9547-B3C085DF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Low-connectivity field update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6F6BF3-7187-4099-81CF-FB685BCC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Queue geo-tagged reports for offline sync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44131-58A0-4C37-A169-12A11F71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9FEDD4-7880-4D56-8BC6-4BA64BE4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Submission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9FFADC-5FB4-447C-B5BE-C42DEDA3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245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331"/>
                </a:solidFill>
                <a:latin typeface="Aptos"/>
                <a:ea typeface="Aptos"/>
                <a:cs typeface="Aptos"/>
              </a:rPr>
              <a:t>5 slides  |  no college name or logo  |  no team photos  |  export to PDF before portal upload</a:t>
            </a:r>
          </a:p>
        </p:txBody>
      </p:sp>
    </p:spTree>
    <p:extLst>
      <p:ext uri="{BB962C8B-B14F-4D97-AF65-F5344CB8AC3E}">
        <p14:creationId xmlns:p14="http://schemas.microsoft.com/office/powerpoint/2010/main" val="14318004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2026-09-09T17:16:39.6560000Z</dcterms:created>
  <dcterms:modified xsi:type="dcterms:W3CDTF">2026-09-09T17:16:39.6560000Z</dcterms:modified>
</coreProperties>
</file>