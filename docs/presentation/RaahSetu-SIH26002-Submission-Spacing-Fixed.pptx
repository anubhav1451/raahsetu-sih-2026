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54608ebff4bf2" /><Relationship Type="http://schemas.openxmlformats.org/officeDocument/2006/relationships/extended-properties" Target="/docProps/app.xml" Id="R938c46d139094bf7" /><Relationship Type="http://schemas.openxmlformats.org/officeDocument/2006/relationships/officeDocument" Target="/ppt/presentation.xml" Id="Re31b1bc4c45e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4805e809046f2"/>
  </p:sldMasterIdLst>
  <p:notesMasterIdLst>
    <p:notesMasterId xmlns:r="http://schemas.openxmlformats.org/officeDocument/2006/relationships" r:id="R31c0a48231b64fa4"/>
  </p:notesMasterIdLst>
  <p:sldIdLst>
    <p:sldId xmlns:r="http://schemas.openxmlformats.org/officeDocument/2006/relationships" id="256" r:id="Rb695704b17ac4ce9"/>
    <p:sldId xmlns:r="http://schemas.openxmlformats.org/officeDocument/2006/relationships" id="257" r:id="Rae6eb98eda62472a"/>
    <p:sldId xmlns:r="http://schemas.openxmlformats.org/officeDocument/2006/relationships" id="258" r:id="R97ad251b23e64a67"/>
    <p:sldId xmlns:r="http://schemas.openxmlformats.org/officeDocument/2006/relationships" id="259" r:id="Rd35d237adfad4405"/>
    <p:sldId xmlns:r="http://schemas.openxmlformats.org/officeDocument/2006/relationships" id="260" r:id="R8d7a60f7e68f49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2da4ca9c1403e" /><Relationship Type="http://schemas.openxmlformats.org/officeDocument/2006/relationships/slideMaster" Target="/ppt/slideMasters/slideMaster1.xml" Id="Rc324805e809046f2" /><Relationship Type="http://schemas.openxmlformats.org/officeDocument/2006/relationships/notesMaster" Target="/ppt/notesMasters/notesMaster1.xml" Id="R31c0a48231b64fa4" /><Relationship Type="http://schemas.openxmlformats.org/officeDocument/2006/relationships/presProps" Target="/ppt/presProps.xml" Id="Ra024a67e388a4a8c" /><Relationship Type="http://schemas.openxmlformats.org/officeDocument/2006/relationships/tableStyles" Target="/ppt/tableStyles.xml" Id="R42db310c14c343cd" /><Relationship Type="http://schemas.openxmlformats.org/officeDocument/2006/relationships/slide" Target="/ppt/slides/slide1.xml" Id="Rb695704b17ac4ce9" /><Relationship Type="http://schemas.openxmlformats.org/officeDocument/2006/relationships/slide" Target="/ppt/slides/slide2.xml" Id="Rae6eb98eda62472a" /><Relationship Type="http://schemas.openxmlformats.org/officeDocument/2006/relationships/slide" Target="/ppt/slides/slide3.xml" Id="R97ad251b23e64a67" /><Relationship Type="http://schemas.openxmlformats.org/officeDocument/2006/relationships/slide" Target="/ppt/slides/slide4.xml" Id="Rd35d237adfad4405" /><Relationship Type="http://schemas.openxmlformats.org/officeDocument/2006/relationships/slide" Target="/ppt/slides/slide5.xml" Id="R8d7a60f7e68f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9ad11c1dc5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00c6914c444d4" /><Relationship Type="http://schemas.openxmlformats.org/officeDocument/2006/relationships/notesMaster" Target="/ppt/notesMasters/notesMaster1.xml" Id="Rd5d0b3c3bd79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9f40f4c3644af1" /><Relationship Type="http://schemas.openxmlformats.org/officeDocument/2006/relationships/notesMaster" Target="/ppt/notesMasters/notesMaster1.xml" Id="Rd66a5daa23474e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5635bc562b41e5" /><Relationship Type="http://schemas.openxmlformats.org/officeDocument/2006/relationships/notesMaster" Target="/ppt/notesMasters/notesMaster1.xml" Id="Rc0fc43bb553c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9101089fe4bfa" /><Relationship Type="http://schemas.openxmlformats.org/officeDocument/2006/relationships/notesMaster" Target="/ppt/notesMasters/notesMaster1.xml" Id="Rc04a7953590447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fe8f8a9be46c4" /><Relationship Type="http://schemas.openxmlformats.org/officeDocument/2006/relationships/notesMaster" Target="/ppt/notesMasters/notesMaster1.xml" Id="R01e545d547b34c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deck for SIH26002. Team and ministry wording follows the project brief supplied by the team. Confirm the portal wording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and solution language are based on the team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OSMnx: https://osmnx.readthedocs.io/  |  PostGIS: https://postgis.net/  |  FastAPI: https://fastapi.tiangolo.com/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 cases reflect the SIH26002 problem statement and the team’s target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what the prototype can demonstrate from inputs that need team or agency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8fd8c094c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46d51666d4dbb" /><Relationship Type="http://schemas.openxmlformats.org/officeDocument/2006/relationships/slideLayout" Target="/ppt/slideLayouts/slideLayout1.xml" Id="Rf7279d405880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279d405880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2d4e5be7c4979" /><Relationship Type="http://schemas.openxmlformats.org/officeDocument/2006/relationships/notesSlide" Target="/ppt/notesSlides/notesSlide1.xml" Id="R53280acda4e1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2f2ebd9d940b9" /><Relationship Type="http://schemas.openxmlformats.org/officeDocument/2006/relationships/notesSlide" Target="/ppt/notesSlides/notesSlide2.xml" Id="R06b48a577e324b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3694e164043fa" /><Relationship Type="http://schemas.openxmlformats.org/officeDocument/2006/relationships/notesSlide" Target="/ppt/notesSlides/notesSlide3.xml" Id="Rdcda523e6690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78090c4234731" /><Relationship Type="http://schemas.openxmlformats.org/officeDocument/2006/relationships/notesSlide" Target="/ppt/notesSlides/notesSlide4.xml" Id="R3042b37a7637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1066ebbe4080" /><Relationship Type="http://schemas.openxmlformats.org/officeDocument/2006/relationships/notesSlide" Target="/ppt/notesSlides/notesSlide5.xml" Id="R0d61fa5b92a04d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D82DD-AFBA-45BA-9B58-D1B3AC3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FE01F-2A9C-4BAC-AD7C-EA26F94C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4713A-D4A6-4F14-92C9-B1D8A4F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AI-based logistics and accessibility intelligence for the Northeast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54DD-5D82-4366-9B60-2B8139CD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775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4F3FB-6F12-497C-9517-70A940E1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F131F-87C4-48F4-9FEA-91678B0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SIH26002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073D-4D27-4FD2-B33E-F1B17D5C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Ministry / Organization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B50DA-1319-425A-87DF-E657DD8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Ministry of Development of North Eastern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CF40B-AD30-4F8A-817F-5BF2FA9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4C3"/>
                </a:solidFill>
                <a:latin typeface="Aptos"/>
                <a:ea typeface="Aptos"/>
                <a:cs typeface="Aptos"/>
              </a:rPr>
              <a:t>Team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750F4-3F3B-4C01-A35A-E310DB4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</p:spTree>
    <p:extLst>
      <p:ext uri="{BB962C8B-B14F-4D97-AF65-F5344CB8AC3E}">
        <p14:creationId xmlns:p14="http://schemas.microsoft.com/office/powerpoint/2010/main" val="1185512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8490E-B2A0-4AF9-9A98-03D59B4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01  IDEA /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4C8C2-646D-4541-ADFB-45460B5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Safer logistics decisions when the fastest road is not the best road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90565-B9B5-4A43-BF67-F3CFA98C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7F6C1-EA8A-4B70-8BC6-218F61D2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CBF35-2D3A-46AC-998F-C1701A3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Road disruptions in the Northeast can turn a short route into a delayed or unsafe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E895F-DD9A-413F-8F0A-0A34124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Standard navigation optimizes travel time. Fleet operators also need road condition, accident history, weather exposure and accessibility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38BF2-D5F2-439C-A926-09C8D833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581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F8BE7-79F1-45B4-9832-11D9C69E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Observed hazard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12ADD-D1DF-446A-B6B6-5F16023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90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4444">
              <a:alpha val="13333"/>
            </a:srgbClr>
          </a:solidFill>
          <a:ln xmlns:a="http://schemas.openxmlformats.org/drawingml/2006/main" w="9525">
            <a:solidFill>
              <a:srgbClr val="EF44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0E08C-0DC4-412B-936B-4592012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Route 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8EB18-F7A3-4430-9BC4-C76E4A5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57750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1E298-445B-4BCE-B293-455A2FCB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Weather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72353-0AE5-42A9-BDE7-FE02CD78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55435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62332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49559-1B50-4BC9-8E16-014C46D9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10C2-1356-4DFC-A7CE-7ACD02A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Risk-aware A*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2E4D1-1DBD-42E3-BFED-3D780ED9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A custom cost function adds modelled hazard exposure to travel time, then searches the road graph for a route that balances safety and delay.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08606-4479-48B1-8550-E328C62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Fastest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2359E-56DD-4A15-B98D-0355E826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7D92A-B5A8-463D-87E8-AF7DB4B2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shorter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3FD2D-C042-4DD3-929E-9C8B16F9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Risk-aware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8D772-C4DF-49C6-A987-FE05EBB3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333625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0B98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6F104-D79B-4C11-8A34-95405739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457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safer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E5C28-70E3-45B0-BD77-304E270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10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Output: route, estimated delay, risk evidence and a clear explanation for operators.</a:t>
            </a:r>
          </a:p>
        </p:txBody>
      </p:sp>
    </p:spTree>
    <p:extLst>
      <p:ext uri="{BB962C8B-B14F-4D97-AF65-F5344CB8AC3E}">
        <p14:creationId xmlns:p14="http://schemas.microsoft.com/office/powerpoint/2010/main" val="559494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AA85F-7D39-4893-93EE-9C7EECFB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02  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A1261-3C48-4B32-A4C4-55AC406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One explainable path from a request to a route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54D4-6CDF-41A0-AF1D-A1E45AAA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3625-C612-4CF5-A8A0-C0B0E2AB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Fleet operator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C0084-9909-4454-A832-2798909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66318-D321-4EFE-970D-DFC90C4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request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31F47-F60F-45A6-A211-884C455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21453-ADEA-4B98-8CB6-7875EAD1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OSMnx graph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+ hazard joins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6E73-E4B7-41B3-A5A5-EBAF2DD7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F68A-844A-404A-8FFC-5317ABC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Risk-aware A*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route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49451-EA89-45A9-BFFD-A9CDD96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41BE1-A5D2-473D-B02A-93752AAC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3D operations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62A8D-D6C4-4CEB-A73A-5EEE4996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733B0-1450-4003-B955-15238E4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+ 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56544-87DE-45FB-8A7F-5DBF7433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40562-1979-449B-ADBE-7B16714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Versioned</a:t>
            </a:r>
          </a:p>
          <a:p xmlns:a="http://schemas.openxmlformats.org/drawingml/2006/main">
            <a:pPr>
              <a:defRPr sz="16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scenario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C14A6-F1AF-4258-9CFC-A529E30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D881F-5E7E-49E6-888C-73157FBD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65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253F1-39AB-44C7-A7FB-5602ECD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46D68-DCC2-4669-936B-F75D997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53A4A-FE70-4B82-9517-5AE51DC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F6AA2-BCE7-426A-A853-784F1287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FFBA7-3DB3-4BAC-9FDF-0B7997C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9525" cy="12763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ADD11-CABA-4475-A14B-DDD147E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3733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6AB4F-0C33-41BF-A534-EF038AB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DE33F-4EE4-44F5-AC3D-D8EC4F9E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F9E09-621C-4478-BDAA-36846A62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6591-8ED1-4424-AFC6-F6104920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AABDD-CE29-43C7-943F-4DDAB3D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9525" cy="1285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FFA5C-F498-4AB4-96B3-D19F8E7D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81475" y="2505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3329E-F7E2-429B-A85D-F03A4ED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7E1B5-AB70-48DE-922B-1D45FDE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React + TypeScript + React Three Fiber     |     Python 3.12 + FastAPI     |     OSMnx     |     Supabase PostgreSQL + PostGIS     |     Docker + Kubernetes</a:t>
            </a:r>
          </a:p>
        </p:txBody>
      </p:sp>
    </p:spTree>
    <p:extLst>
      <p:ext uri="{BB962C8B-B14F-4D97-AF65-F5344CB8AC3E}">
        <p14:creationId xmlns:p14="http://schemas.microsoft.com/office/powerpoint/2010/main" val="1012442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B24F3-6C5F-490F-8A82-94B1120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03 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902EF-BCFC-46C2-8BBA-6AAA66C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A common decision layer for emergency and commercial fleets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BBB6D-FCD7-43D9-BA18-31FF970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9AFE6-7465-40BE-9AC5-AC2444C9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342DB-2436-4BAA-A211-05276E16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Emergency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73C45-D1D3-45A3-9564-08944A5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NDRF / SDRF fleets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68742-978C-4576-87D1-682DBE2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Plan a relief run around flooded, blocked or landslide-prone segments.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B6DA9-6DC8-47B1-BE86-748A56B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3C040-2AAB-4209-8DC9-B48158A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FA3FD-DDB0-4385-927D-2B60B3B0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Essential logistics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23E25-302C-4B8A-A62D-8C31988F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Heavy trucks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55358-F5D2-4EA3-9E4C-211DB80F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Compare time and risk before moving medicines, food or construction material.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74F0F-975A-4226-90B9-8AD5DDC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A4F50-EE86-46BC-A073-3B1B1A2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3AB0F-0C5C-4EB3-8EF6-0600729E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Field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2D0BF-702A-4D15-8B11-11D1C94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District officials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60D80-8B41-4F65-9B75-37EC0010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Upload a geo-tagged closure or photo so the next route decision uses current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B98C3-44C3-4DB9-A4DF-49165147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Operational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15F27-90F5-4B16-B759-0576DF4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9DFF3-E518-417F-B809-1778686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DF7FC-1F16-4860-9AC9-A457BF6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E13EB-4E9A-45AC-9900-4ABE53C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2432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DF926-838A-4DD8-9283-588E626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81625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D4FE0-B684-4F1C-9283-77F69E0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9DA44-60A3-46EB-B2AF-D614487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CEA06-BF00-4ACC-951A-ED38AFA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96000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769A8-E062-4F38-B2C5-69B1F88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5B7C6-2A93-40C7-B28C-AD66725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5C4A70-584C-466A-B9D7-A00C160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B98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E6856-4E68-4846-A41E-D966535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F0D99-0867-4AF3-B562-DFBE027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81625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66397-EAE4-49B9-8E62-A039F25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38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22658-923B-4F1D-BD28-09DBBA66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If every road is blocked, the system surfaces the accessibility gap for escalation instead of returning a misleading route.</a:t>
            </a:r>
          </a:p>
        </p:txBody>
      </p:sp>
    </p:spTree>
    <p:extLst>
      <p:ext uri="{BB962C8B-B14F-4D97-AF65-F5344CB8AC3E}">
        <p14:creationId xmlns:p14="http://schemas.microsoft.com/office/powerpoint/2010/main" val="1993725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4B5D2-5897-4817-9BFC-33CD154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04  DEPENDENCIES AND SHOW STOPPERS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058CB-4C7A-4F2B-8B73-8C1DFC55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A realistic pilot plan keeps the decision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6C8FA-165B-42C6-8C78-E957387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958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986CF-6417-4BE7-A345-11120802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88118-47CE-4111-A266-998B88F0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B4627-25E2-4ECA-A9A1-DF50471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Open road network from OSM / OSMnx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3B957-688E-49B7-B1C7-AF31077B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BFCFC-EED8-4E38-B7A0-5711C74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Reviewed hazard observations from government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05B3F-7151-49E4-A320-DFC02D42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8A816-53A5-4036-9B19-2329AC8C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Weather and disruption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DF205-C5A6-4760-A750-018107AC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F9E3B-14E4-4ED9-88F7-E45A494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Supabase project with PostGIS enabled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5DCDA-9401-4BAE-846C-B65782F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4387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11B29"/>
          </a:solidFill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A8CED-8F04-4F61-96F5-ABA12BB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Show stoppers and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5DDB3-5215-4DC9-85D2-511424C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Paid live traffic feeds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2BAC9-9C4F-4B00-94BA-E519A45F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Use open graph data and expose freshness clearly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1825A-B829-434F-A0F1-28CDCFC1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Unverified hazard 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D0AA0-ECDF-46FC-8A11-DD9C38F1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Keep records reviewable before promoting them to route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03442-4663-4F5C-A885-CF1E5092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Single-access road 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D4094-7973-49DC-8B6F-2573C55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Raise an accessibility alert and show the last feasible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6887F-D3AD-4EEB-8B28-0BE1CD0B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4F6"/>
                </a:solidFill>
                <a:latin typeface="Aptos"/>
                <a:ea typeface="Aptos"/>
                <a:cs typeface="Aptos"/>
              </a:rPr>
              <a:t>Low-connectivity field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52C8A-1928-4388-B588-13B44658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4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4C3"/>
                </a:solidFill>
                <a:latin typeface="Aptos"/>
                <a:ea typeface="Aptos"/>
                <a:cs typeface="Aptos"/>
              </a:rPr>
              <a:t>Queue geo-tagged reports for offline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19CA6-E10A-466E-8AC3-848A8F3A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38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1F8E3-F2FC-4658-838D-487C99B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7051E-C4D3-4EA9-B7DC-05767F16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3F4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3F4F6"/>
                </a:solidFill>
                <a:latin typeface="Aptos"/>
                <a:ea typeface="Aptos"/>
                <a:cs typeface="Aptos"/>
              </a:rPr>
              <a:t>5 slides  |  no college name or logo  |  no team photos  |  export to PDF before portal upload</a:t>
            </a:r>
          </a:p>
        </p:txBody>
      </p:sp>
    </p:spTree>
    <p:extLst>
      <p:ext uri="{BB962C8B-B14F-4D97-AF65-F5344CB8AC3E}">
        <p14:creationId xmlns:p14="http://schemas.microsoft.com/office/powerpoint/2010/main" val="1598845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2026-09-09T17:01:50.4990000Z</dcterms:created>
  <dcterms:modified xsi:type="dcterms:W3CDTF">2026-09-09T17:01:50.4990000Z</dcterms:modified>
</coreProperties>
</file>